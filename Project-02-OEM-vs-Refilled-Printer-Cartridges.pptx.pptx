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92" r:id="rId5"/>
    <p:sldId id="296" r:id="rId6"/>
    <p:sldId id="309" r:id="rId7"/>
    <p:sldId id="310" r:id="rId8"/>
    <p:sldId id="311" r:id="rId9"/>
    <p:sldId id="312" r:id="rId10"/>
    <p:sldId id="315" r:id="rId11"/>
    <p:sldId id="314" r:id="rId12"/>
    <p:sldId id="318" r:id="rId13"/>
    <p:sldId id="319" r:id="rId14"/>
    <p:sldId id="320" r:id="rId15"/>
    <p:sldId id="321" r:id="rId16"/>
    <p:sldId id="322" r:id="rId17"/>
    <p:sldId id="323" r:id="rId18"/>
    <p:sldId id="324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253E"/>
    <a:srgbClr val="F8F6F5"/>
    <a:srgbClr val="ED8512"/>
    <a:srgbClr val="446992"/>
    <a:srgbClr val="AEC2D8"/>
    <a:srgbClr val="98432A"/>
    <a:srgbClr val="D84400"/>
    <a:srgbClr val="44678D"/>
    <a:srgbClr val="263E5A"/>
    <a:srgbClr val="D6E0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03" autoAdjust="0"/>
    <p:restoredTop sz="75785" autoAdjust="0"/>
  </p:normalViewPr>
  <p:slideViewPr>
    <p:cSldViewPr snapToGrid="0" showGuides="1">
      <p:cViewPr>
        <p:scale>
          <a:sx n="55" d="100"/>
          <a:sy n="55" d="100"/>
        </p:scale>
        <p:origin x="1987" y="206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-161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2/11/2026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A894A48D-3417-BE20-3062-A366096904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AC9ED954-709D-51DC-3EA0-0E06FE1D72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F57F2FB-2942-7663-E6DB-E3A976549D5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ED31FE42-8AA6-DC9C-5EE7-8737143C1DD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58D246-FB21-4ACB-9068-6447CC7872F8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5F659C92-43C4-05C5-9170-5CF256AF99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4923A81-0599-8ECF-BDF0-A4898D4682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BF3159-94EB-4F6B-8273-09F1A6B019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This presentation was created to help the Production Department understand the advantages and disadvantages of using OEM printer cartridges versus refilled cartridges.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712883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B96F0-5BE0-D256-68E2-92E9DF701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8B37AC-834F-FE3F-7A0B-652D414831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CE705A-D7FB-74AD-3951-D9FC42906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Pat Hughes from the Production Department contacted the support team because printer supply costs are high. This presentation explains whether switching to refilled cartridges is a good idea.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45D1C8-DF95-0CD1-EEFD-CC92EF958F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556718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46B9F-05CA-32EF-B90F-31FF8E4D2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2AE044-09FE-D9B4-A0AE-478558B6E5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7F5A3C-2690-59A8-A711-88280AB1A6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OEM means Original Equipment Manufacturer. For example, HP cartridges are made by HP to work best with HP printers.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CCCF50-C72A-0EFD-DD6F-EB1D3EECEA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450523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94DD8-4556-C6FF-F816-E1925274C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55027E-CF93-A5EA-63F5-37FF692625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9917EE-FED2-BBF6-9A1F-0E76E4C7D3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Refilled cartridges reuse old cartridges. They can save money and reduce waste, but quality can vary depending on how well they are refilled.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599522-AE7A-7F75-5E99-012716A732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9905801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4B853-A22D-363A-888A-C9267D1F0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9E3436-23FC-0DB9-AD17-8075DAEFAA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BAE8F6-CE78-B802-CDD9-4F52E7F171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For this comparison, we are using an HP </a:t>
            </a:r>
            <a:r>
              <a:rPr lang="en-US" dirty="0" err="1"/>
              <a:t>OfficeJet</a:t>
            </a:r>
            <a:r>
              <a:rPr lang="en-US" dirty="0"/>
              <a:t> Pro 6978, a common office printer. According to Quill and Inkjets.com, refilled cartridges for HP printers often cost 30–50% less than OEM cartridges. However, lower page yield and reprints can reduce these savings.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FE376D-6284-3D4B-0670-0CFA4716FD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5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975384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05550-0C7F-5C7A-D6AA-3402FE53A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0EA5A2-84F6-2C25-118C-78E0E4A300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E4471F-598D-E86B-7657-A7E2FA59AF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Cost is important, but it is not the only factor. In a book publishing company, print quality and reliability are very important.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867320-3579-956A-32D7-217C368D81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726036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3736A-E13C-C887-EEB9-FE8993EF6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BB987A-B596-10E0-5246-17434C7128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002734-2B9A-07BC-BCFE-13C05C4B8C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OEM cartridges usually cause fewer printer problems. For the support team, this means fewer help desk tickets.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AD8A90-E4C4-5B54-9F7E-DEB6CB3F5B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7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2073771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606DC-F6D8-2D8F-50DD-7E0D308BE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BBC00B-9933-20EA-7CD3-62110F025F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34A4B4-E17B-9214-11F2-DF8AFFF0C1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Cartridge World and Inkjets.com explain that refilled cartridges can work well, but problems are more likely if the supplier is not reliable.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4BCBFF-C76A-B274-BEB8-FA9FBE0EC4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8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584795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03C81-1746-5F4C-E874-0D824D5CF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5137F6-1DD4-74E3-5AD1-0D9F7BAE60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30745A-75F5-10FE-8116-EB6D4AAAA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HP explains that firmware updates can prevent refilled cartridges from working. If a refilled cartridge damages the printer, repairs may not be covered.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23C372-A196-96C1-0A47-56312CF01C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9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178853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BE1A7-FACF-4A2F-72B3-07BA15014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C72035-4518-CCB1-26ED-5A37A84058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6C2B6E-EF00-0958-8649-D5619D91A8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When refilled cartridges fail, the support team has more work. It becomes harder to identify whether the problem is the printer or the cartridge.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3DCD82-F1F3-B847-784E-621E84EA39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10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748088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7A609-2487-6ADC-2E88-2E6DC0CD2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591953-6881-7B0D-8EB9-A7577B8747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F7A499-3A90-B53C-460A-97F65024A5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Unreliable printing can slow down production and affect the publishing schedule.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D85A6F-E2FC-2B71-7E55-4B2462C419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11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243981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68212-13C4-82D8-4988-F266824EC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853AE2-C0DF-98A2-5F1A-966DAFCF26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A449BB-6705-5A61-5974-DCA12D9CE3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 mixed approach may work best. OEM cartridges reduce risk, while refilled cartridges can be tested in low-risk situations. In a publishing company, print quality and reliability are critical, especially for proofs, contracts, and marketing materials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DC7DDA-F102-F837-4C6C-AE3BB5D2CA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12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663217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56781-C17D-91A6-3C9A-A6141A9C5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91CCAC-D511-B24E-69BC-7B9C853184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70DC27-DFA3-90A3-DD4C-6CE0C83D26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These required questions are answered throughout the presentation using real research and examples.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CCCCAD-E7C7-BCD6-3005-11268A1DD8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13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128089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A6177-0DB8-0C15-133A-497F4E6BD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5E0E30-652D-D39A-93CC-9FD23A5C18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1C4713-BCE8-5C1A-5E4C-C7B82F05CD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E728B2-DF59-5BEC-577F-3016CD0B25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14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002014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AE3A7-FE4D-C064-9F78-F9125B13B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26C66F-D018-255A-F1FE-447EA7A676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2C799C-5914-B58B-4438-D3B93D9F54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8D4B9C-0799-3AE5-8133-26F143E258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15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748447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764" y="1986926"/>
            <a:ext cx="5257793" cy="2057441"/>
          </a:xfrm>
        </p:spPr>
        <p:txBody>
          <a:bodyPr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509005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01366" y="4172084"/>
            <a:ext cx="1570612" cy="76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title style 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572" y="3435545"/>
            <a:ext cx="4253399" cy="1740114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0174533-8C0E-4E82-A582-891A0555FA1F}"/>
              </a:ext>
            </a:extLst>
          </p:cNvPr>
          <p:cNvSpPr/>
          <p:nvPr userDrawn="1"/>
        </p:nvSpPr>
        <p:spPr>
          <a:xfrm>
            <a:off x="7328126" y="231031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71E3938-A754-4D49-B509-249EE9BD83AB}"/>
              </a:ext>
            </a:extLst>
          </p:cNvPr>
          <p:cNvSpPr/>
          <p:nvPr userDrawn="1"/>
        </p:nvSpPr>
        <p:spPr>
          <a:xfrm>
            <a:off x="8375472" y="409533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5414CF94-2913-4AE7-AAC3-3D61FE7428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4027" y="1076241"/>
            <a:ext cx="1913128" cy="105472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3CE3485A-395E-4C5F-A00F-D230FF7CFB9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75472" y="1076241"/>
            <a:ext cx="1904890" cy="105472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6A8DFBFF-5B07-49C6-ADB8-341FCD1E753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21949" y="2844725"/>
            <a:ext cx="1914694" cy="108919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 descr="Click icon to add picture">
            <a:extLst>
              <a:ext uri="{FF2B5EF4-FFF2-40B4-BE49-F238E27FC236}">
                <a16:creationId xmlns:a16="http://schemas.microsoft.com/office/drawing/2014/main" id="{1AC7F192-CFC3-470A-9467-330212C6F52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409651" y="2826795"/>
            <a:ext cx="1913128" cy="11071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A5D53FF3-B0CD-4D31-9128-2D2E0E89F0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67234" y="4631270"/>
            <a:ext cx="1913128" cy="10756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" name="Freeform: Shape 6">
            <a:extLst>
              <a:ext uri="{FF2B5EF4-FFF2-40B4-BE49-F238E27FC236}">
                <a16:creationId xmlns:a16="http://schemas.microsoft.com/office/drawing/2014/main" id="{4D27EAE5-5D14-4E2B-9A4E-E1CE7C26F40F}"/>
              </a:ext>
            </a:extLst>
          </p:cNvPr>
          <p:cNvSpPr/>
          <p:nvPr userDrawn="1"/>
        </p:nvSpPr>
        <p:spPr>
          <a:xfrm>
            <a:off x="630971" y="606175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1796F5D-2CC8-44C2-B5B5-E61BEFFF5A72}"/>
              </a:ext>
            </a:extLst>
          </p:cNvPr>
          <p:cNvSpPr/>
          <p:nvPr userDrawn="1"/>
        </p:nvSpPr>
        <p:spPr>
          <a:xfrm>
            <a:off x="5252937" y="2290859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3093633-6A91-42B5-961C-4B3A5DDF2146}"/>
              </a:ext>
            </a:extLst>
          </p:cNvPr>
          <p:cNvSpPr/>
          <p:nvPr userDrawn="1"/>
        </p:nvSpPr>
        <p:spPr>
          <a:xfrm>
            <a:off x="6310033" y="405642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84632" y="6217920"/>
            <a:ext cx="4114800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194169" y="6217920"/>
            <a:ext cx="458592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62097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096892"/>
            <a:ext cx="5117162" cy="1325563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47">
            <a:extLst>
              <a:ext uri="{FF2B5EF4-FFF2-40B4-BE49-F238E27FC236}">
                <a16:creationId xmlns:a16="http://schemas.microsoft.com/office/drawing/2014/main" id="{E61594E5-F661-407F-9B5E-62267D2E6AA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9574" y="3435546"/>
            <a:ext cx="4260180" cy="12945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988BDF24-3B67-5B77-0D48-319FA7FD0F6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5745001" y="0"/>
            <a:ext cx="6446999" cy="6858000"/>
          </a:xfrm>
          <a:custGeom>
            <a:avLst/>
            <a:gdLst>
              <a:gd name="connsiteX0" fmla="*/ 2550369 w 6483642"/>
              <a:gd name="connsiteY0" fmla="*/ 0 h 6858000"/>
              <a:gd name="connsiteX1" fmla="*/ 4338592 w 6483642"/>
              <a:gd name="connsiteY1" fmla="*/ 0 h 6858000"/>
              <a:gd name="connsiteX2" fmla="*/ 6483642 w 6483642"/>
              <a:gd name="connsiteY2" fmla="*/ 1338386 h 6858000"/>
              <a:gd name="connsiteX3" fmla="*/ 6483642 w 6483642"/>
              <a:gd name="connsiteY3" fmla="*/ 5624376 h 6858000"/>
              <a:gd name="connsiteX4" fmla="*/ 4378767 w 6483642"/>
              <a:gd name="connsiteY4" fmla="*/ 6858000 h 6858000"/>
              <a:gd name="connsiteX5" fmla="*/ 2590564 w 6483642"/>
              <a:gd name="connsiteY5" fmla="*/ 6858000 h 6858000"/>
              <a:gd name="connsiteX6" fmla="*/ 133 w 6483642"/>
              <a:gd name="connsiteY6" fmla="*/ 5332429 h 6858000"/>
              <a:gd name="connsiteX7" fmla="*/ 20164 w 6483642"/>
              <a:gd name="connsiteY7" fmla="*/ 1404433 h 6858000"/>
              <a:gd name="connsiteX0" fmla="*/ 2530205 w 6463478"/>
              <a:gd name="connsiteY0" fmla="*/ 0 h 6858000"/>
              <a:gd name="connsiteX1" fmla="*/ 4318428 w 6463478"/>
              <a:gd name="connsiteY1" fmla="*/ 0 h 6858000"/>
              <a:gd name="connsiteX2" fmla="*/ 6463478 w 6463478"/>
              <a:gd name="connsiteY2" fmla="*/ 1338386 h 6858000"/>
              <a:gd name="connsiteX3" fmla="*/ 6463478 w 6463478"/>
              <a:gd name="connsiteY3" fmla="*/ 5624376 h 6858000"/>
              <a:gd name="connsiteX4" fmla="*/ 4358603 w 6463478"/>
              <a:gd name="connsiteY4" fmla="*/ 6858000 h 6858000"/>
              <a:gd name="connsiteX5" fmla="*/ 2570400 w 6463478"/>
              <a:gd name="connsiteY5" fmla="*/ 6858000 h 6858000"/>
              <a:gd name="connsiteX6" fmla="*/ 17140 w 6463478"/>
              <a:gd name="connsiteY6" fmla="*/ 5339864 h 6858000"/>
              <a:gd name="connsiteX7" fmla="*/ 0 w 6463478"/>
              <a:gd name="connsiteY7" fmla="*/ 1404433 h 6858000"/>
              <a:gd name="connsiteX8" fmla="*/ 2530205 w 6463478"/>
              <a:gd name="connsiteY8" fmla="*/ 0 h 6858000"/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  <a:gd name="connsiteX8" fmla="*/ 2513726 w 644699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lnTo>
                  <a:pt x="2513726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dirty="0">
                <a:solidFill>
                  <a:schemeClr val="accent6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ADF8D8A3-175E-9A50-A98B-3766DAAB5EE2}"/>
              </a:ext>
            </a:extLst>
          </p:cNvPr>
          <p:cNvSpPr/>
          <p:nvPr userDrawn="1"/>
        </p:nvSpPr>
        <p:spPr>
          <a:xfrm rot="5400000">
            <a:off x="1308232" y="2004972"/>
            <a:ext cx="3593592" cy="2880360"/>
          </a:xfrm>
          <a:prstGeom prst="hexagon">
            <a:avLst>
              <a:gd name="adj" fmla="val 31211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Text 47" descr="Click icon to add picture">
            <a:extLst>
              <a:ext uri="{FF2B5EF4-FFF2-40B4-BE49-F238E27FC236}">
                <a16:creationId xmlns:a16="http://schemas.microsoft.com/office/drawing/2014/main" id="{B264F104-ED4D-9A7F-E598-295893E05B7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19235" y="2911781"/>
            <a:ext cx="1570612" cy="107082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1" cap="all" baseline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A084A88-6A62-9495-6CFE-1127D5CAAAB2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581710" y="555648"/>
            <a:ext cx="5045662" cy="5783096"/>
          </a:xfrm>
          <a:custGeom>
            <a:avLst/>
            <a:gdLst>
              <a:gd name="connsiteX0" fmla="*/ 2523318 w 5045662"/>
              <a:gd name="connsiteY0" fmla="*/ 1092708 h 5783096"/>
              <a:gd name="connsiteX1" fmla="*/ 1083139 w 5045662"/>
              <a:gd name="connsiteY1" fmla="*/ 1991697 h 5783096"/>
              <a:gd name="connsiteX2" fmla="*/ 1083139 w 5045662"/>
              <a:gd name="connsiteY2" fmla="*/ 3787311 h 5783096"/>
              <a:gd name="connsiteX3" fmla="*/ 2523318 w 5045662"/>
              <a:gd name="connsiteY3" fmla="*/ 4686300 h 5783096"/>
              <a:gd name="connsiteX4" fmla="*/ 3963497 w 5045662"/>
              <a:gd name="connsiteY4" fmla="*/ 3787311 h 5783096"/>
              <a:gd name="connsiteX5" fmla="*/ 3963497 w 5045662"/>
              <a:gd name="connsiteY5" fmla="*/ 1991697 h 5783096"/>
              <a:gd name="connsiteX6" fmla="*/ 2470122 w 5045662"/>
              <a:gd name="connsiteY6" fmla="*/ 0 h 5783096"/>
              <a:gd name="connsiteX7" fmla="*/ 5037208 w 5045662"/>
              <a:gd name="connsiteY7" fmla="*/ 1458369 h 5783096"/>
              <a:gd name="connsiteX8" fmla="*/ 5045662 w 5045662"/>
              <a:gd name="connsiteY8" fmla="*/ 4339769 h 5783096"/>
              <a:gd name="connsiteX9" fmla="*/ 2561576 w 5045662"/>
              <a:gd name="connsiteY9" fmla="*/ 5783096 h 5783096"/>
              <a:gd name="connsiteX10" fmla="*/ 24164 w 5045662"/>
              <a:gd name="connsiteY10" fmla="*/ 4354881 h 5783096"/>
              <a:gd name="connsiteX11" fmla="*/ 0 w 5045662"/>
              <a:gd name="connsiteY11" fmla="*/ 1453765 h 5783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45662" h="5783096">
                <a:moveTo>
                  <a:pt x="2523318" y="1092708"/>
                </a:moveTo>
                <a:lnTo>
                  <a:pt x="1083139" y="1991697"/>
                </a:lnTo>
                <a:lnTo>
                  <a:pt x="1083139" y="3787311"/>
                </a:lnTo>
                <a:lnTo>
                  <a:pt x="2523318" y="4686300"/>
                </a:lnTo>
                <a:lnTo>
                  <a:pt x="3963497" y="3787311"/>
                </a:lnTo>
                <a:lnTo>
                  <a:pt x="3963497" y="1991697"/>
                </a:lnTo>
                <a:close/>
                <a:moveTo>
                  <a:pt x="2470122" y="0"/>
                </a:moveTo>
                <a:lnTo>
                  <a:pt x="5037208" y="1458369"/>
                </a:lnTo>
                <a:cubicBezTo>
                  <a:pt x="5040026" y="2418836"/>
                  <a:pt x="5042844" y="3379302"/>
                  <a:pt x="5045662" y="4339769"/>
                </a:cubicBezTo>
                <a:lnTo>
                  <a:pt x="2561576" y="5783096"/>
                </a:lnTo>
                <a:lnTo>
                  <a:pt x="24164" y="4354881"/>
                </a:lnTo>
                <a:lnTo>
                  <a:pt x="0" y="1453765"/>
                </a:lnTo>
                <a:close/>
              </a:path>
            </a:pathLst>
          </a:custGeom>
        </p:spPr>
        <p:txBody>
          <a:bodyPr wrap="square" tIns="457200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2BC57-1D8D-9F59-24F9-1E8232279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507076"/>
            <a:ext cx="10515600" cy="1115434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47">
            <a:extLst>
              <a:ext uri="{FF2B5EF4-FFF2-40B4-BE49-F238E27FC236}">
                <a16:creationId xmlns:a16="http://schemas.microsoft.com/office/drawing/2014/main" id="{561744A6-D3EA-42C3-8E71-3BB8BA1E6149}"/>
              </a:ext>
            </a:extLst>
          </p:cNvPr>
          <p:cNvSpPr>
            <a:spLocks noGrp="1"/>
          </p:cNvSpPr>
          <p:nvPr>
            <p:ph type="chart" sz="quarter" idx="27" hasCustomPrompt="1"/>
          </p:nvPr>
        </p:nvSpPr>
        <p:spPr>
          <a:xfrm>
            <a:off x="587829" y="1622510"/>
            <a:ext cx="10889796" cy="415575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C82179-6F61-D1EC-D800-74B748B37F0E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803A51-0211-9F66-D20B-444BC94AA39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76827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de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709" y="721538"/>
            <a:ext cx="10889796" cy="14189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able placeholder">
            <a:extLst>
              <a:ext uri="{FF2B5EF4-FFF2-40B4-BE49-F238E27FC236}">
                <a16:creationId xmlns:a16="http://schemas.microsoft.com/office/drawing/2014/main" id="{CFC5FF09-DE50-4155-81A0-5DD9B700F205}"/>
              </a:ext>
            </a:extLst>
          </p:cNvPr>
          <p:cNvSpPr>
            <a:spLocks noGrp="1"/>
          </p:cNvSpPr>
          <p:nvPr>
            <p:ph type="tbl" sz="quarter" idx="27" hasCustomPrompt="1"/>
          </p:nvPr>
        </p:nvSpPr>
        <p:spPr>
          <a:xfrm>
            <a:off x="581709" y="1614198"/>
            <a:ext cx="10889796" cy="431785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BF58E95-E9E1-28E6-FB2F-DE80889223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079" y="1856195"/>
            <a:ext cx="4518122" cy="1688906"/>
          </a:xfrm>
        </p:spPr>
        <p:txBody>
          <a:bodyPr anchor="b">
            <a:noAutofit/>
          </a:bodyPr>
          <a:lstStyle>
            <a:lvl1pPr>
              <a:defRPr sz="2700">
                <a:latin typeface="+mn-lt"/>
              </a:defRPr>
            </a:lvl1pPr>
          </a:lstStyle>
          <a:p>
            <a:r>
              <a:rPr lang="en-US" dirty="0"/>
              <a:t>Click to edit </a:t>
            </a:r>
            <a:r>
              <a:rPr lang="en-US" altLang="zh-CN" dirty="0"/>
              <a:t>Text</a:t>
            </a:r>
            <a:r>
              <a:rPr lang="zh-CN" altLang="en-US" dirty="0"/>
              <a:t> </a:t>
            </a:r>
            <a:r>
              <a:rPr lang="en-US" dirty="0"/>
              <a:t>style</a:t>
            </a:r>
          </a:p>
        </p:txBody>
      </p:sp>
      <p:sp>
        <p:nvSpPr>
          <p:cNvPr id="11" name="subtitle 47">
            <a:extLst>
              <a:ext uri="{FF2B5EF4-FFF2-40B4-BE49-F238E27FC236}">
                <a16:creationId xmlns:a16="http://schemas.microsoft.com/office/drawing/2014/main" id="{3B45AD65-2B81-A368-E5F0-5C61D0B1DF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5999" y="3695015"/>
            <a:ext cx="4672693" cy="16889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4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4" name="Freeform: Shape 5">
            <a:extLst>
              <a:ext uri="{FF2B5EF4-FFF2-40B4-BE49-F238E27FC236}">
                <a16:creationId xmlns:a16="http://schemas.microsoft.com/office/drawing/2014/main" id="{0CA4AA19-0D07-46AB-AC12-64054BBBB499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: Shape 6">
            <a:extLst>
              <a:ext uri="{FF2B5EF4-FFF2-40B4-BE49-F238E27FC236}">
                <a16:creationId xmlns:a16="http://schemas.microsoft.com/office/drawing/2014/main" id="{DF781D9E-0DF5-4DDA-84E6-35DFB054158C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dirty="0"/>
          </a:p>
        </p:txBody>
      </p:sp>
      <p:sp>
        <p:nvSpPr>
          <p:cNvPr id="6" name="Freeform: Shape 7">
            <a:extLst>
              <a:ext uri="{FF2B5EF4-FFF2-40B4-BE49-F238E27FC236}">
                <a16:creationId xmlns:a16="http://schemas.microsoft.com/office/drawing/2014/main" id="{86BA1075-E23C-4BC9-8F67-B2E408F864D2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B2A4CA75-D17E-243B-9C56-A63C75AF6D56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64077E-956B-EA3A-700F-A833D82341FE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  <a:endParaRPr lang="en-US" noProof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ED455D4-27F3-B6AD-2A20-7475F307E5E4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25641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4">
            <a:extLst>
              <a:ext uri="{FF2B5EF4-FFF2-40B4-BE49-F238E27FC236}">
                <a16:creationId xmlns:a16="http://schemas.microsoft.com/office/drawing/2014/main" id="{DCA6F28B-ACF1-D3CB-8968-4F64BEA02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E2F72F6F-0172-47B0-8D9E-0EED383332E2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114798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52" name="Content placeholder 47" descr="Click icon to add picture">
            <a:extLst>
              <a:ext uri="{FF2B5EF4-FFF2-40B4-BE49-F238E27FC236}">
                <a16:creationId xmlns:a16="http://schemas.microsoft.com/office/drawing/2014/main" id="{2369DDD8-CFC2-4980-A0DB-411AA173B4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4003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3" name="Content placeholder 47">
            <a:extLst>
              <a:ext uri="{FF2B5EF4-FFF2-40B4-BE49-F238E27FC236}">
                <a16:creationId xmlns:a16="http://schemas.microsoft.com/office/drawing/2014/main" id="{B66AC261-5929-40D2-A646-8F16675DE3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14003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B33A9FB2-1610-4389-B352-D99255F77BEC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623536" y="1840730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DEE851A8-3FB7-B319-A053-BE08A45763C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7204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Content placeholder 47">
            <a:extLst>
              <a:ext uri="{FF2B5EF4-FFF2-40B4-BE49-F238E27FC236}">
                <a16:creationId xmlns:a16="http://schemas.microsoft.com/office/drawing/2014/main" id="{5743B59B-3EAA-B249-07CE-9C9C5B0B6AB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7204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0AC60B87-71AC-4AA8-9AE7-B3B427BACB12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6113401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19" name="Content placeholder 47" descr="Click icon to add picture">
            <a:extLst>
              <a:ext uri="{FF2B5EF4-FFF2-40B4-BE49-F238E27FC236}">
                <a16:creationId xmlns:a16="http://schemas.microsoft.com/office/drawing/2014/main" id="{110FBA5D-2CEB-4D44-16CA-0F24099B140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8710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2108E774-D145-FA07-58F1-7DB37A30A59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8710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05B25D7D-82BA-4FF5-9C92-4AD18184751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8500328" y="1836331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5" name="Content placeholder 47" descr="Click icon to add picture">
            <a:extLst>
              <a:ext uri="{FF2B5EF4-FFF2-40B4-BE49-F238E27FC236}">
                <a16:creationId xmlns:a16="http://schemas.microsoft.com/office/drawing/2014/main" id="{A9C2624B-E6E6-C673-E8FF-F4BF909C3AC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6353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A003837A-CCD7-3699-D86F-CB884CA4C6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6353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9028585-56FF-7B3D-783D-D06964F7C099}"/>
              </a:ext>
            </a:extLst>
          </p:cNvPr>
          <p:cNvSpPr>
            <a:spLocks noGrp="1"/>
          </p:cNvSpPr>
          <p:nvPr>
            <p:ph type="ftr" sz="quarter" idx="5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090978-DDC9-0FA2-2CFD-733C8B854F3C}"/>
              </a:ext>
            </a:extLst>
          </p:cNvPr>
          <p:cNvSpPr>
            <a:spLocks noGrp="1"/>
          </p:cNvSpPr>
          <p:nvPr>
            <p:ph type="sldNum" sz="quarter" idx="5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6368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92FA2A-46BA-2A19-C3CE-EC6985867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367293"/>
            <a:ext cx="3909993" cy="3629708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BF9EDF7D-3BB1-43C0-92BB-091CCC520477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426979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15896C2C-7C25-4BC0-AF9B-DF590A2909A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20210" y="522515"/>
            <a:ext cx="2289842" cy="6265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CAC554EF-FF8F-4055-A716-E82F461413B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20211" y="1165881"/>
            <a:ext cx="2289842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0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56" name="Content placeholder 47">
            <a:extLst>
              <a:ext uri="{FF2B5EF4-FFF2-40B4-BE49-F238E27FC236}">
                <a16:creationId xmlns:a16="http://schemas.microsoft.com/office/drawing/2014/main" id="{4F0742C0-A9F2-4886-B17E-6915399483C3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05991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1" name="Content placeholder 47" descr="Click icon to add picture">
            <a:extLst>
              <a:ext uri="{FF2B5EF4-FFF2-40B4-BE49-F238E27FC236}">
                <a16:creationId xmlns:a16="http://schemas.microsoft.com/office/drawing/2014/main" id="{CE3DC674-39AB-43B9-AC30-97A68D22159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309889" y="642667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F12189CA-0E22-41A5-91FD-03761860993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309891" y="1165881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8" name="Content placeholder 47">
            <a:extLst>
              <a:ext uri="{FF2B5EF4-FFF2-40B4-BE49-F238E27FC236}">
                <a16:creationId xmlns:a16="http://schemas.microsoft.com/office/drawing/2014/main" id="{A962C62E-F92F-445A-9243-8B433747A548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426979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 descr="Click icon to add picture">
            <a:extLst>
              <a:ext uri="{FF2B5EF4-FFF2-40B4-BE49-F238E27FC236}">
                <a16:creationId xmlns:a16="http://schemas.microsoft.com/office/drawing/2014/main" id="{DE6F9463-BB2D-43FC-BE8F-21D3F9A2539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520210" y="2105171"/>
            <a:ext cx="2193021" cy="61741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7DF27694-08A2-4530-B763-5A9B9D4DC6E0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520212" y="2739721"/>
            <a:ext cx="2193021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2EA753B3-D0BB-4484-85D1-E28345D99F4C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05991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 dirty="0"/>
          </a:p>
        </p:txBody>
      </p:sp>
      <p:sp>
        <p:nvSpPr>
          <p:cNvPr id="45" name="Content placeholder 47" descr="Click icon to add picture">
            <a:extLst>
              <a:ext uri="{FF2B5EF4-FFF2-40B4-BE49-F238E27FC236}">
                <a16:creationId xmlns:a16="http://schemas.microsoft.com/office/drawing/2014/main" id="{20398AA4-3D68-487D-BE7C-9F1D45E3F5F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309890" y="2032203"/>
            <a:ext cx="2098039" cy="70114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6" name="Content placeholder 47">
            <a:extLst>
              <a:ext uri="{FF2B5EF4-FFF2-40B4-BE49-F238E27FC236}">
                <a16:creationId xmlns:a16="http://schemas.microsoft.com/office/drawing/2014/main" id="{6B623D7A-5E96-42AB-9B1F-14E44550318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309890" y="274640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9" name="Content placeholder 47">
            <a:extLst>
              <a:ext uri="{FF2B5EF4-FFF2-40B4-BE49-F238E27FC236}">
                <a16:creationId xmlns:a16="http://schemas.microsoft.com/office/drawing/2014/main" id="{EAA5B0EA-1F3B-4D8B-9BB9-F9037A393705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426979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7" name="Content placeholder 47" descr="Click icon to add picture">
            <a:extLst>
              <a:ext uri="{FF2B5EF4-FFF2-40B4-BE49-F238E27FC236}">
                <a16:creationId xmlns:a16="http://schemas.microsoft.com/office/drawing/2014/main" id="{2C93687D-1E42-4B01-9F16-9FA098CE115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520210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0" name="Content placeholder 47">
            <a:extLst>
              <a:ext uri="{FF2B5EF4-FFF2-40B4-BE49-F238E27FC236}">
                <a16:creationId xmlns:a16="http://schemas.microsoft.com/office/drawing/2014/main" id="{7AB91474-458B-45F7-9773-FA375C2CF7F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552021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52E587E7-A09A-4FB2-8774-8073E737F106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>
          <a:xfrm>
            <a:off x="805991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1" name="Content placeholder 47" descr="Click icon to add picture">
            <a:extLst>
              <a:ext uri="{FF2B5EF4-FFF2-40B4-BE49-F238E27FC236}">
                <a16:creationId xmlns:a16="http://schemas.microsoft.com/office/drawing/2014/main" id="{FBF01DC7-D684-4484-B2AA-B50F7B1A00D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309889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2" name="Content placeholder 47">
            <a:extLst>
              <a:ext uri="{FF2B5EF4-FFF2-40B4-BE49-F238E27FC236}">
                <a16:creationId xmlns:a16="http://schemas.microsoft.com/office/drawing/2014/main" id="{6046C90F-8A25-4E70-9BC9-4496C6B94EB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30989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5" name="Content placeholder 47">
            <a:extLst>
              <a:ext uri="{FF2B5EF4-FFF2-40B4-BE49-F238E27FC236}">
                <a16:creationId xmlns:a16="http://schemas.microsoft.com/office/drawing/2014/main" id="{D05B9A22-6B21-40BB-BBC1-9586C432A97B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>
          <a:xfrm>
            <a:off x="426979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3" name="Content placeholder 47" descr="Click icon to add picture">
            <a:extLst>
              <a:ext uri="{FF2B5EF4-FFF2-40B4-BE49-F238E27FC236}">
                <a16:creationId xmlns:a16="http://schemas.microsoft.com/office/drawing/2014/main" id="{F5E2B418-8D0E-4995-A3ED-4348C6F4A1A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520210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8" name="Content placeholder 47">
            <a:extLst>
              <a:ext uri="{FF2B5EF4-FFF2-40B4-BE49-F238E27FC236}">
                <a16:creationId xmlns:a16="http://schemas.microsoft.com/office/drawing/2014/main" id="{90A2A6E4-4D11-4F28-9D68-BC28580EBC05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52021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A74DEBE4-2F74-4EB7-9501-8D37A3151B2A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805991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9" name="Content placeholder 47" descr="Click icon to add picture">
            <a:extLst>
              <a:ext uri="{FF2B5EF4-FFF2-40B4-BE49-F238E27FC236}">
                <a16:creationId xmlns:a16="http://schemas.microsoft.com/office/drawing/2014/main" id="{070D69EE-1032-4604-B201-FD13AE846E9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313612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B65187B8-CD7A-46B0-A851-E2456586E758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30989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64988-2386-5A15-B085-00BD5D58E53C}"/>
              </a:ext>
            </a:extLst>
          </p:cNvPr>
          <p:cNvSpPr>
            <a:spLocks noGrp="1"/>
          </p:cNvSpPr>
          <p:nvPr>
            <p:ph type="ftr" sz="quarter" idx="7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CC095-C330-BF75-42CE-50A46EAD82C5}"/>
              </a:ext>
            </a:extLst>
          </p:cNvPr>
          <p:cNvSpPr>
            <a:spLocks noGrp="1"/>
          </p:cNvSpPr>
          <p:nvPr>
            <p:ph type="sldNum" sz="quarter" idx="77"/>
          </p:nvPr>
        </p:nvSpPr>
        <p:spPr/>
        <p:txBody>
          <a:bodyPr>
            <a:noAutofit/>
          </a:bodyPr>
          <a:lstStyle>
            <a:lvl1pPr>
              <a:defRPr b="0"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43117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6">
            <a:extLst>
              <a:ext uri="{FF2B5EF4-FFF2-40B4-BE49-F238E27FC236}">
                <a16:creationId xmlns:a16="http://schemas.microsoft.com/office/drawing/2014/main" id="{A533F602-EEC9-45F6-8223-8C8F4914919D}"/>
              </a:ext>
            </a:extLst>
          </p:cNvPr>
          <p:cNvSpPr/>
          <p:nvPr userDrawn="1"/>
        </p:nvSpPr>
        <p:spPr>
          <a:xfrm>
            <a:off x="2121636" y="2070606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08F73F8C-5CF8-4470-AE2B-8E6D7952FF3E}"/>
              </a:ext>
            </a:extLst>
          </p:cNvPr>
          <p:cNvSpPr/>
          <p:nvPr userDrawn="1"/>
        </p:nvSpPr>
        <p:spPr>
          <a:xfrm>
            <a:off x="4174867" y="207344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reeform: Shape 8">
            <a:extLst>
              <a:ext uri="{FF2B5EF4-FFF2-40B4-BE49-F238E27FC236}">
                <a16:creationId xmlns:a16="http://schemas.microsoft.com/office/drawing/2014/main" id="{1299AD72-44AB-4D37-ABBB-9E295508DDB5}"/>
              </a:ext>
            </a:extLst>
          </p:cNvPr>
          <p:cNvSpPr/>
          <p:nvPr userDrawn="1"/>
        </p:nvSpPr>
        <p:spPr>
          <a:xfrm>
            <a:off x="6308379" y="206452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834981F1-A16D-4CA2-8001-0D2A65539268}"/>
              </a:ext>
            </a:extLst>
          </p:cNvPr>
          <p:cNvSpPr/>
          <p:nvPr userDrawn="1"/>
        </p:nvSpPr>
        <p:spPr>
          <a:xfrm>
            <a:off x="8407152" y="206898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1" name="Content placeholder 47" descr="Click icon to add picture">
            <a:extLst>
              <a:ext uri="{FF2B5EF4-FFF2-40B4-BE49-F238E27FC236}">
                <a16:creationId xmlns:a16="http://schemas.microsoft.com/office/drawing/2014/main" id="{7AA46292-B7E4-4DB5-85D0-C4F19D66F8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1770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382E7D57-1A1A-432F-AEA9-9730DEE157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2627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E51F0384-440E-45B9-91E7-78CA13DE0B9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88314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>
            <a:extLst>
              <a:ext uri="{FF2B5EF4-FFF2-40B4-BE49-F238E27FC236}">
                <a16:creationId xmlns:a16="http://schemas.microsoft.com/office/drawing/2014/main" id="{35EAE525-3692-40E8-894E-B19171FF64F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979171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847DC539-F391-4470-96EB-486AB02DADB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73898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6" name="Content placeholder 47">
            <a:extLst>
              <a:ext uri="{FF2B5EF4-FFF2-40B4-BE49-F238E27FC236}">
                <a16:creationId xmlns:a16="http://schemas.microsoft.com/office/drawing/2014/main" id="{50988645-D146-4AFE-B87D-27927957717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164755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 descr="Click icon to add picture">
            <a:extLst>
              <a:ext uri="{FF2B5EF4-FFF2-40B4-BE49-F238E27FC236}">
                <a16:creationId xmlns:a16="http://schemas.microsoft.com/office/drawing/2014/main" id="{6712E8AC-14E0-42CC-8037-7C1D0E044B6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259482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C68DF822-6F14-4839-BD33-6874C8136EE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350339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2D1F75C7-DA21-4400-B066-F38190B4F5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445066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F7CF6BF0-A40D-4F18-B9DF-D9C4106065D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535923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1" name="Content placeholder 47">
            <a:extLst>
              <a:ext uri="{FF2B5EF4-FFF2-40B4-BE49-F238E27FC236}">
                <a16:creationId xmlns:a16="http://schemas.microsoft.com/office/drawing/2014/main" id="{95C6B2A2-937E-4C7D-92E3-8A105DD43A98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3282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A9ECEF10-95EB-4F03-B3B1-8FC0E421618E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310934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>
            <a:extLst>
              <a:ext uri="{FF2B5EF4-FFF2-40B4-BE49-F238E27FC236}">
                <a16:creationId xmlns:a16="http://schemas.microsoft.com/office/drawing/2014/main" id="{12D92FE1-9874-49B8-8FDC-F903A4843015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5235410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12070F52-AB91-476E-9FE0-5403568A11DD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361474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5" name="Content placeholder 47">
            <a:extLst>
              <a:ext uri="{FF2B5EF4-FFF2-40B4-BE49-F238E27FC236}">
                <a16:creationId xmlns:a16="http://schemas.microsoft.com/office/drawing/2014/main" id="{13AE459B-26D7-43FC-BE0B-EF7B119D7D40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948753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25" name="Title Placeholder 4">
            <a:extLst>
              <a:ext uri="{FF2B5EF4-FFF2-40B4-BE49-F238E27FC236}">
                <a16:creationId xmlns:a16="http://schemas.microsoft.com/office/drawing/2014/main" id="{C8ECEE37-7B17-4FD7-2612-FBD357E10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F2CD23-FF0B-8184-9F40-957043412F1C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76D293-58F2-B8E9-6576-2676F210D7CF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93317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67FF6BA4-2B1B-4B51-9FE3-A67E3DCC31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200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88E2377A-ED6B-4D69-A9DC-647CB22A520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000303" y="2929823"/>
            <a:ext cx="1867186" cy="2471878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ECC27D7D-FA65-E93F-3C7E-AADBF7E0CC2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64216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>
            <a:extLst>
              <a:ext uri="{FF2B5EF4-FFF2-40B4-BE49-F238E27FC236}">
                <a16:creationId xmlns:a16="http://schemas.microsoft.com/office/drawing/2014/main" id="{DF5280E4-E86B-9E17-04A1-072A8148C3B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326319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>
            <a:extLst>
              <a:ext uri="{FF2B5EF4-FFF2-40B4-BE49-F238E27FC236}">
                <a16:creationId xmlns:a16="http://schemas.microsoft.com/office/drawing/2014/main" id="{42F4F0D3-AF64-7F92-FF1C-F5D1DC62A38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488424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Content placeholder 47">
            <a:extLst>
              <a:ext uri="{FF2B5EF4-FFF2-40B4-BE49-F238E27FC236}">
                <a16:creationId xmlns:a16="http://schemas.microsoft.com/office/drawing/2014/main" id="{43D089D6-48B5-43AB-A887-EEF910BA91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8200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4" name="Title Placeholder 4">
            <a:extLst>
              <a:ext uri="{FF2B5EF4-FFF2-40B4-BE49-F238E27FC236}">
                <a16:creationId xmlns:a16="http://schemas.microsoft.com/office/drawing/2014/main" id="{69ABDED2-7EB3-3ABE-90D0-E6C00F806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Content placeholder 47">
            <a:extLst>
              <a:ext uri="{FF2B5EF4-FFF2-40B4-BE49-F238E27FC236}">
                <a16:creationId xmlns:a16="http://schemas.microsoft.com/office/drawing/2014/main" id="{476A31DC-7395-007C-8BA1-C38E5B289CF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000756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35CE0786-D87B-DD89-C418-C53C1B7E610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63312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7C7F2E6C-1DCD-3C6A-4830-5BF230A3AAB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325868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56A87F6E-D6C5-8903-BC20-31381004603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88424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218367E-FDD8-A1F8-8E0F-A365771B85F7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  <a:endParaRPr lang="en-US" noProof="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ECE300-0AB8-85A0-D4D3-B948DDA7B00F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649859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Freeform: Shape 25">
            <a:extLst>
              <a:ext uri="{FF2B5EF4-FFF2-40B4-BE49-F238E27FC236}">
                <a16:creationId xmlns:a16="http://schemas.microsoft.com/office/drawing/2014/main" id="{D61EE2E4-C5DD-4944-B70C-8F0A3F741A59}"/>
              </a:ext>
            </a:extLst>
          </p:cNvPr>
          <p:cNvSpPr/>
          <p:nvPr userDrawn="1"/>
        </p:nvSpPr>
        <p:spPr>
          <a:xfrm>
            <a:off x="1295508" y="3039919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7" name="Freeform: Shape 26">
            <a:extLst>
              <a:ext uri="{FF2B5EF4-FFF2-40B4-BE49-F238E27FC236}">
                <a16:creationId xmlns:a16="http://schemas.microsoft.com/office/drawing/2014/main" id="{91FA36A8-94E8-4069-B957-F7145D77BD5F}"/>
              </a:ext>
            </a:extLst>
          </p:cNvPr>
          <p:cNvSpPr/>
          <p:nvPr userDrawn="1"/>
        </p:nvSpPr>
        <p:spPr>
          <a:xfrm>
            <a:off x="3670763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8" name="Freeform: Shape 27">
            <a:extLst>
              <a:ext uri="{FF2B5EF4-FFF2-40B4-BE49-F238E27FC236}">
                <a16:creationId xmlns:a16="http://schemas.microsoft.com/office/drawing/2014/main" id="{7D38D67C-B6B8-4EB2-BC07-4A8128F44D16}"/>
              </a:ext>
            </a:extLst>
          </p:cNvPr>
          <p:cNvSpPr/>
          <p:nvPr userDrawn="1"/>
        </p:nvSpPr>
        <p:spPr>
          <a:xfrm>
            <a:off x="4865676" y="3722308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9" name="Freeform: Shape 28">
            <a:extLst>
              <a:ext uri="{FF2B5EF4-FFF2-40B4-BE49-F238E27FC236}">
                <a16:creationId xmlns:a16="http://schemas.microsoft.com/office/drawing/2014/main" id="{6B2E4C8C-D96E-4A66-A3D2-3580DACCF801}"/>
              </a:ext>
            </a:extLst>
          </p:cNvPr>
          <p:cNvSpPr/>
          <p:nvPr userDrawn="1"/>
        </p:nvSpPr>
        <p:spPr>
          <a:xfrm>
            <a:off x="7245668" y="3725411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0" name="Freeform: Shape 29">
            <a:extLst>
              <a:ext uri="{FF2B5EF4-FFF2-40B4-BE49-F238E27FC236}">
                <a16:creationId xmlns:a16="http://schemas.microsoft.com/office/drawing/2014/main" id="{74E0B8B0-45C7-4733-BBDC-B82F9307E431}"/>
              </a:ext>
            </a:extLst>
          </p:cNvPr>
          <p:cNvSpPr/>
          <p:nvPr userDrawn="1"/>
        </p:nvSpPr>
        <p:spPr>
          <a:xfrm>
            <a:off x="8440729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1" name="Freeform: Shape 30">
            <a:extLst>
              <a:ext uri="{FF2B5EF4-FFF2-40B4-BE49-F238E27FC236}">
                <a16:creationId xmlns:a16="http://schemas.microsoft.com/office/drawing/2014/main" id="{F0BBECC2-631C-4C53-A9E8-6C87D48A3B01}"/>
              </a:ext>
            </a:extLst>
          </p:cNvPr>
          <p:cNvSpPr/>
          <p:nvPr userDrawn="1"/>
        </p:nvSpPr>
        <p:spPr>
          <a:xfrm>
            <a:off x="1274779" y="1667026"/>
            <a:ext cx="7152768" cy="2736950"/>
          </a:xfrm>
          <a:custGeom>
            <a:avLst/>
            <a:gdLst>
              <a:gd name="connsiteX0" fmla="*/ 0 w 5958191"/>
              <a:gd name="connsiteY0" fmla="*/ 2052536 h 2733472"/>
              <a:gd name="connsiteX1" fmla="*/ 1186774 w 5958191"/>
              <a:gd name="connsiteY1" fmla="*/ 1361872 h 2733472"/>
              <a:gd name="connsiteX2" fmla="*/ 2368685 w 5958191"/>
              <a:gd name="connsiteY2" fmla="*/ 2057400 h 2733472"/>
              <a:gd name="connsiteX3" fmla="*/ 2378413 w 5958191"/>
              <a:gd name="connsiteY3" fmla="*/ 690664 h 2733472"/>
              <a:gd name="connsiteX4" fmla="*/ 3570051 w 5958191"/>
              <a:gd name="connsiteY4" fmla="*/ 0 h 2733472"/>
              <a:gd name="connsiteX5" fmla="*/ 4761689 w 5958191"/>
              <a:gd name="connsiteY5" fmla="*/ 680936 h 2733472"/>
              <a:gd name="connsiteX6" fmla="*/ 4756825 w 5958191"/>
              <a:gd name="connsiteY6" fmla="*/ 2052536 h 2733472"/>
              <a:gd name="connsiteX7" fmla="*/ 5958191 w 5958191"/>
              <a:gd name="connsiteY7" fmla="*/ 2733472 h 2733472"/>
              <a:gd name="connsiteX8" fmla="*/ 5958191 w 5958191"/>
              <a:gd name="connsiteY8" fmla="*/ 2733472 h 2733472"/>
              <a:gd name="connsiteX0" fmla="*/ 0 w 7159557"/>
              <a:gd name="connsiteY0" fmla="*/ 2052536 h 2733472"/>
              <a:gd name="connsiteX1" fmla="*/ 1186774 w 7159557"/>
              <a:gd name="connsiteY1" fmla="*/ 1361872 h 2733472"/>
              <a:gd name="connsiteX2" fmla="*/ 2368685 w 7159557"/>
              <a:gd name="connsiteY2" fmla="*/ 2057400 h 2733472"/>
              <a:gd name="connsiteX3" fmla="*/ 2378413 w 7159557"/>
              <a:gd name="connsiteY3" fmla="*/ 690664 h 2733472"/>
              <a:gd name="connsiteX4" fmla="*/ 3570051 w 7159557"/>
              <a:gd name="connsiteY4" fmla="*/ 0 h 2733472"/>
              <a:gd name="connsiteX5" fmla="*/ 4761689 w 7159557"/>
              <a:gd name="connsiteY5" fmla="*/ 680936 h 2733472"/>
              <a:gd name="connsiteX6" fmla="*/ 4756825 w 7159557"/>
              <a:gd name="connsiteY6" fmla="*/ 2052536 h 2733472"/>
              <a:gd name="connsiteX7" fmla="*/ 5958191 w 7159557"/>
              <a:gd name="connsiteY7" fmla="*/ 2733472 h 2733472"/>
              <a:gd name="connsiteX8" fmla="*/ 7159557 w 7159557"/>
              <a:gd name="connsiteY8" fmla="*/ 2067128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62264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7400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2536 h 2733472"/>
              <a:gd name="connsiteX0" fmla="*/ 0 w 7159556"/>
              <a:gd name="connsiteY0" fmla="*/ 2052536 h 2733472"/>
              <a:gd name="connsiteX1" fmla="*/ 1186774 w 7159556"/>
              <a:gd name="connsiteY1" fmla="*/ 1361872 h 2733472"/>
              <a:gd name="connsiteX2" fmla="*/ 2368685 w 7159556"/>
              <a:gd name="connsiteY2" fmla="*/ 2057400 h 2733472"/>
              <a:gd name="connsiteX3" fmla="*/ 2378413 w 7159556"/>
              <a:gd name="connsiteY3" fmla="*/ 690664 h 2733472"/>
              <a:gd name="connsiteX4" fmla="*/ 3570051 w 7159556"/>
              <a:gd name="connsiteY4" fmla="*/ 0 h 2733472"/>
              <a:gd name="connsiteX5" fmla="*/ 4761689 w 7159556"/>
              <a:gd name="connsiteY5" fmla="*/ 680936 h 2733472"/>
              <a:gd name="connsiteX6" fmla="*/ 4756825 w 7159556"/>
              <a:gd name="connsiteY6" fmla="*/ 2052536 h 2733472"/>
              <a:gd name="connsiteX7" fmla="*/ 5958191 w 7159556"/>
              <a:gd name="connsiteY7" fmla="*/ 2733472 h 2733472"/>
              <a:gd name="connsiteX8" fmla="*/ 7159556 w 7159556"/>
              <a:gd name="connsiteY8" fmla="*/ 2052536 h 2733472"/>
              <a:gd name="connsiteX0" fmla="*/ 0 w 7145649"/>
              <a:gd name="connsiteY0" fmla="*/ 2049060 h 2733472"/>
              <a:gd name="connsiteX1" fmla="*/ 1172867 w 7145649"/>
              <a:gd name="connsiteY1" fmla="*/ 1361872 h 2733472"/>
              <a:gd name="connsiteX2" fmla="*/ 2354778 w 7145649"/>
              <a:gd name="connsiteY2" fmla="*/ 2057400 h 2733472"/>
              <a:gd name="connsiteX3" fmla="*/ 2364506 w 7145649"/>
              <a:gd name="connsiteY3" fmla="*/ 690664 h 2733472"/>
              <a:gd name="connsiteX4" fmla="*/ 3556144 w 7145649"/>
              <a:gd name="connsiteY4" fmla="*/ 0 h 2733472"/>
              <a:gd name="connsiteX5" fmla="*/ 4747782 w 7145649"/>
              <a:gd name="connsiteY5" fmla="*/ 680936 h 2733472"/>
              <a:gd name="connsiteX6" fmla="*/ 4742918 w 7145649"/>
              <a:gd name="connsiteY6" fmla="*/ 2052536 h 2733472"/>
              <a:gd name="connsiteX7" fmla="*/ 5944284 w 7145649"/>
              <a:gd name="connsiteY7" fmla="*/ 2733472 h 2733472"/>
              <a:gd name="connsiteX8" fmla="*/ 7145649 w 714564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61872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1731 w 7156079"/>
              <a:gd name="connsiteY2" fmla="*/ 2029586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82592 w 7156079"/>
              <a:gd name="connsiteY2" fmla="*/ 2033063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4936 w 7156079"/>
              <a:gd name="connsiteY3" fmla="*/ 71847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1460 w 7156079"/>
              <a:gd name="connsiteY3" fmla="*/ 70804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1460 w 7156079"/>
              <a:gd name="connsiteY3" fmla="*/ 680234 h 2733472"/>
              <a:gd name="connsiteX4" fmla="*/ 3573527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7 h 2761287"/>
              <a:gd name="connsiteX1" fmla="*/ 1183297 w 7156079"/>
              <a:gd name="connsiteY1" fmla="*/ 1372303 h 2761287"/>
              <a:gd name="connsiteX2" fmla="*/ 2372162 w 7156079"/>
              <a:gd name="connsiteY2" fmla="*/ 2053925 h 2761287"/>
              <a:gd name="connsiteX3" fmla="*/ 2371460 w 7156079"/>
              <a:gd name="connsiteY3" fmla="*/ 708049 h 2761287"/>
              <a:gd name="connsiteX4" fmla="*/ 3563096 w 7156079"/>
              <a:gd name="connsiteY4" fmla="*/ 0 h 2761287"/>
              <a:gd name="connsiteX5" fmla="*/ 4758212 w 7156079"/>
              <a:gd name="connsiteY5" fmla="*/ 708751 h 2761287"/>
              <a:gd name="connsiteX6" fmla="*/ 4753348 w 7156079"/>
              <a:gd name="connsiteY6" fmla="*/ 2080351 h 2761287"/>
              <a:gd name="connsiteX7" fmla="*/ 5954714 w 7156079"/>
              <a:gd name="connsiteY7" fmla="*/ 2761287 h 2761287"/>
              <a:gd name="connsiteX8" fmla="*/ 7156079 w 7156079"/>
              <a:gd name="connsiteY8" fmla="*/ 2080351 h 2761287"/>
              <a:gd name="connsiteX0" fmla="*/ 0 w 7156079"/>
              <a:gd name="connsiteY0" fmla="*/ 2045583 h 2743903"/>
              <a:gd name="connsiteX1" fmla="*/ 1183297 w 7156079"/>
              <a:gd name="connsiteY1" fmla="*/ 1354919 h 2743903"/>
              <a:gd name="connsiteX2" fmla="*/ 2372162 w 7156079"/>
              <a:gd name="connsiteY2" fmla="*/ 2036541 h 2743903"/>
              <a:gd name="connsiteX3" fmla="*/ 2371460 w 7156079"/>
              <a:gd name="connsiteY3" fmla="*/ 690665 h 2743903"/>
              <a:gd name="connsiteX4" fmla="*/ 3563096 w 7156079"/>
              <a:gd name="connsiteY4" fmla="*/ 0 h 2743903"/>
              <a:gd name="connsiteX5" fmla="*/ 4758212 w 7156079"/>
              <a:gd name="connsiteY5" fmla="*/ 691367 h 2743903"/>
              <a:gd name="connsiteX6" fmla="*/ 4753348 w 7156079"/>
              <a:gd name="connsiteY6" fmla="*/ 2062967 h 2743903"/>
              <a:gd name="connsiteX7" fmla="*/ 5954714 w 7156079"/>
              <a:gd name="connsiteY7" fmla="*/ 2743903 h 2743903"/>
              <a:gd name="connsiteX8" fmla="*/ 7156079 w 7156079"/>
              <a:gd name="connsiteY8" fmla="*/ 2062967 h 2743903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8212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42917 w 7156079"/>
              <a:gd name="connsiteY6" fmla="*/ 2062967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62967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60301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6014 h 2736950"/>
              <a:gd name="connsiteX0" fmla="*/ 0 w 7124788"/>
              <a:gd name="connsiteY0" fmla="*/ 2052537 h 2736950"/>
              <a:gd name="connsiteX1" fmla="*/ 1183297 w 7124788"/>
              <a:gd name="connsiteY1" fmla="*/ 1361873 h 2736950"/>
              <a:gd name="connsiteX2" fmla="*/ 2372162 w 7124788"/>
              <a:gd name="connsiteY2" fmla="*/ 2043495 h 2736950"/>
              <a:gd name="connsiteX3" fmla="*/ 2371460 w 7124788"/>
              <a:gd name="connsiteY3" fmla="*/ 697619 h 2736950"/>
              <a:gd name="connsiteX4" fmla="*/ 3559620 w 7124788"/>
              <a:gd name="connsiteY4" fmla="*/ 0 h 2736950"/>
              <a:gd name="connsiteX5" fmla="*/ 4751259 w 7124788"/>
              <a:gd name="connsiteY5" fmla="*/ 698321 h 2736950"/>
              <a:gd name="connsiteX6" fmla="*/ 4742917 w 7124788"/>
              <a:gd name="connsiteY6" fmla="*/ 2052536 h 2736950"/>
              <a:gd name="connsiteX7" fmla="*/ 5954714 w 7124788"/>
              <a:gd name="connsiteY7" fmla="*/ 2736950 h 2736950"/>
              <a:gd name="connsiteX8" fmla="*/ 7124788 w 7124788"/>
              <a:gd name="connsiteY8" fmla="*/ 2045583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67128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59537"/>
              <a:gd name="connsiteY0" fmla="*/ 2062264 h 2736950"/>
              <a:gd name="connsiteX1" fmla="*/ 1207616 w 7159537"/>
              <a:gd name="connsiteY1" fmla="*/ 1361873 h 2736950"/>
              <a:gd name="connsiteX2" fmla="*/ 2400389 w 7159537"/>
              <a:gd name="connsiteY2" fmla="*/ 2055218 h 2736950"/>
              <a:gd name="connsiteX3" fmla="*/ 2395779 w 7159537"/>
              <a:gd name="connsiteY3" fmla="*/ 697619 h 2736950"/>
              <a:gd name="connsiteX4" fmla="*/ 3583939 w 7159537"/>
              <a:gd name="connsiteY4" fmla="*/ 0 h 2736950"/>
              <a:gd name="connsiteX5" fmla="*/ 4775578 w 7159537"/>
              <a:gd name="connsiteY5" fmla="*/ 698321 h 2736950"/>
              <a:gd name="connsiteX6" fmla="*/ 4767236 w 7159537"/>
              <a:gd name="connsiteY6" fmla="*/ 2052536 h 2736950"/>
              <a:gd name="connsiteX7" fmla="*/ 5979033 w 7159537"/>
              <a:gd name="connsiteY7" fmla="*/ 2736950 h 2736950"/>
              <a:gd name="connsiteX8" fmla="*/ 7159537 w 7159537"/>
              <a:gd name="connsiteY8" fmla="*/ 2052536 h 2736950"/>
              <a:gd name="connsiteX0" fmla="*/ 0 w 7149809"/>
              <a:gd name="connsiteY0" fmla="*/ 2071991 h 2736950"/>
              <a:gd name="connsiteX1" fmla="*/ 1197888 w 7149809"/>
              <a:gd name="connsiteY1" fmla="*/ 1361873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22208 w 7149809"/>
              <a:gd name="connsiteY1" fmla="*/ 1357009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582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4745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52768"/>
              <a:gd name="connsiteY0" fmla="*/ 2063113 h 2736950"/>
              <a:gd name="connsiteX1" fmla="*/ 1197659 w 7152768"/>
              <a:gd name="connsiteY1" fmla="*/ 1371385 h 2736950"/>
              <a:gd name="connsiteX2" fmla="*/ 2393620 w 7152768"/>
              <a:gd name="connsiteY2" fmla="*/ 2055218 h 2736950"/>
              <a:gd name="connsiteX3" fmla="*/ 2389010 w 7152768"/>
              <a:gd name="connsiteY3" fmla="*/ 697619 h 2736950"/>
              <a:gd name="connsiteX4" fmla="*/ 3577170 w 7152768"/>
              <a:gd name="connsiteY4" fmla="*/ 0 h 2736950"/>
              <a:gd name="connsiteX5" fmla="*/ 4773889 w 7152768"/>
              <a:gd name="connsiteY5" fmla="*/ 698321 h 2736950"/>
              <a:gd name="connsiteX6" fmla="*/ 4760467 w 7152768"/>
              <a:gd name="connsiteY6" fmla="*/ 2047456 h 2736950"/>
              <a:gd name="connsiteX7" fmla="*/ 5972264 w 7152768"/>
              <a:gd name="connsiteY7" fmla="*/ 2736950 h 2736950"/>
              <a:gd name="connsiteX8" fmla="*/ 7152768 w 7152768"/>
              <a:gd name="connsiteY8" fmla="*/ 2052536 h 2736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52768" h="2736950">
                <a:moveTo>
                  <a:pt x="0" y="2063113"/>
                </a:moveTo>
                <a:cubicBezTo>
                  <a:pt x="405781" y="1831271"/>
                  <a:pt x="752967" y="1616359"/>
                  <a:pt x="1197659" y="1371385"/>
                </a:cubicBezTo>
                <a:lnTo>
                  <a:pt x="2393620" y="2055218"/>
                </a:lnTo>
                <a:cubicBezTo>
                  <a:pt x="2396863" y="1599639"/>
                  <a:pt x="2385767" y="1153198"/>
                  <a:pt x="2389010" y="697619"/>
                </a:cubicBezTo>
                <a:lnTo>
                  <a:pt x="3577170" y="0"/>
                </a:lnTo>
                <a:lnTo>
                  <a:pt x="4773889" y="698321"/>
                </a:lnTo>
                <a:cubicBezTo>
                  <a:pt x="4772268" y="1155521"/>
                  <a:pt x="4762088" y="1590256"/>
                  <a:pt x="4760467" y="2047456"/>
                </a:cubicBezTo>
                <a:lnTo>
                  <a:pt x="5972264" y="2736950"/>
                </a:lnTo>
                <a:lnTo>
                  <a:pt x="7152768" y="2052536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2" name="Freeform: Shape 31">
            <a:extLst>
              <a:ext uri="{FF2B5EF4-FFF2-40B4-BE49-F238E27FC236}">
                <a16:creationId xmlns:a16="http://schemas.microsoft.com/office/drawing/2014/main" id="{274DD645-8640-45D5-9B60-F31EC01D3CC0}"/>
              </a:ext>
            </a:extLst>
          </p:cNvPr>
          <p:cNvSpPr/>
          <p:nvPr userDrawn="1"/>
        </p:nvSpPr>
        <p:spPr>
          <a:xfrm>
            <a:off x="8440979" y="1677475"/>
            <a:ext cx="2373549" cy="2062264"/>
          </a:xfrm>
          <a:custGeom>
            <a:avLst/>
            <a:gdLst>
              <a:gd name="connsiteX0" fmla="*/ 2373549 w 2373549"/>
              <a:gd name="connsiteY0" fmla="*/ 680936 h 2062264"/>
              <a:gd name="connsiteX1" fmla="*/ 1186774 w 2373549"/>
              <a:gd name="connsiteY1" fmla="*/ 0 h 2062264"/>
              <a:gd name="connsiteX2" fmla="*/ 0 w 2373549"/>
              <a:gd name="connsiteY2" fmla="*/ 690664 h 2062264"/>
              <a:gd name="connsiteX3" fmla="*/ 0 w 2373549"/>
              <a:gd name="connsiteY3" fmla="*/ 2062264 h 2062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3549" h="2062264">
                <a:moveTo>
                  <a:pt x="2373549" y="680936"/>
                </a:moveTo>
                <a:lnTo>
                  <a:pt x="1186774" y="0"/>
                </a:lnTo>
                <a:lnTo>
                  <a:pt x="0" y="690664"/>
                </a:lnTo>
                <a:lnTo>
                  <a:pt x="0" y="2062264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3" name="Freeform: Shape 34">
            <a:extLst>
              <a:ext uri="{FF2B5EF4-FFF2-40B4-BE49-F238E27FC236}">
                <a16:creationId xmlns:a16="http://schemas.microsoft.com/office/drawing/2014/main" id="{71C09F09-7119-47FD-8E60-E4A92C9A3119}"/>
              </a:ext>
            </a:extLst>
          </p:cNvPr>
          <p:cNvSpPr/>
          <p:nvPr userDrawn="1"/>
        </p:nvSpPr>
        <p:spPr>
          <a:xfrm flipH="1">
            <a:off x="10715501" y="2243467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4" name="Freeform: Shape 45">
            <a:extLst>
              <a:ext uri="{FF2B5EF4-FFF2-40B4-BE49-F238E27FC236}">
                <a16:creationId xmlns:a16="http://schemas.microsoft.com/office/drawing/2014/main" id="{E99BCE04-19B9-4541-925F-AC59CF760E7F}"/>
              </a:ext>
            </a:extLst>
          </p:cNvPr>
          <p:cNvSpPr/>
          <p:nvPr userDrawn="1"/>
        </p:nvSpPr>
        <p:spPr>
          <a:xfrm flipH="1">
            <a:off x="9534557" y="1571099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5" name="Freeform: Shape 46">
            <a:extLst>
              <a:ext uri="{FF2B5EF4-FFF2-40B4-BE49-F238E27FC236}">
                <a16:creationId xmlns:a16="http://schemas.microsoft.com/office/drawing/2014/main" id="{F2B610BB-26F6-44A5-B7DB-CEEDCAE916ED}"/>
              </a:ext>
            </a:extLst>
          </p:cNvPr>
          <p:cNvSpPr/>
          <p:nvPr userDrawn="1"/>
        </p:nvSpPr>
        <p:spPr>
          <a:xfrm flipH="1">
            <a:off x="8328171" y="2258376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6" name="Freeform: Shape 47">
            <a:extLst>
              <a:ext uri="{FF2B5EF4-FFF2-40B4-BE49-F238E27FC236}">
                <a16:creationId xmlns:a16="http://schemas.microsoft.com/office/drawing/2014/main" id="{C979636C-DE09-47B7-8972-BAE28DFA91DF}"/>
              </a:ext>
            </a:extLst>
          </p:cNvPr>
          <p:cNvSpPr/>
          <p:nvPr userDrawn="1"/>
        </p:nvSpPr>
        <p:spPr>
          <a:xfrm flipH="1">
            <a:off x="8333460" y="361085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7" name="Freeform: Shape 48">
            <a:extLst>
              <a:ext uri="{FF2B5EF4-FFF2-40B4-BE49-F238E27FC236}">
                <a16:creationId xmlns:a16="http://schemas.microsoft.com/office/drawing/2014/main" id="{01B12467-C508-4D89-94B3-6D23C6199703}"/>
              </a:ext>
            </a:extLst>
          </p:cNvPr>
          <p:cNvSpPr/>
          <p:nvPr userDrawn="1"/>
        </p:nvSpPr>
        <p:spPr>
          <a:xfrm flipH="1">
            <a:off x="7146016" y="429086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8" name="Freeform: Shape 49">
            <a:extLst>
              <a:ext uri="{FF2B5EF4-FFF2-40B4-BE49-F238E27FC236}">
                <a16:creationId xmlns:a16="http://schemas.microsoft.com/office/drawing/2014/main" id="{9EA72422-90A8-454F-8133-112CD2B85BEA}"/>
              </a:ext>
            </a:extLst>
          </p:cNvPr>
          <p:cNvSpPr/>
          <p:nvPr userDrawn="1"/>
        </p:nvSpPr>
        <p:spPr>
          <a:xfrm flipH="1">
            <a:off x="5937847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9" name="Freeform: Shape 50">
            <a:extLst>
              <a:ext uri="{FF2B5EF4-FFF2-40B4-BE49-F238E27FC236}">
                <a16:creationId xmlns:a16="http://schemas.microsoft.com/office/drawing/2014/main" id="{3C67727D-D0D9-4CA6-99EE-0B89D465A706}"/>
              </a:ext>
            </a:extLst>
          </p:cNvPr>
          <p:cNvSpPr/>
          <p:nvPr userDrawn="1"/>
        </p:nvSpPr>
        <p:spPr>
          <a:xfrm flipH="1">
            <a:off x="5951993" y="225130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0" name="Freeform: Shape 51">
            <a:extLst>
              <a:ext uri="{FF2B5EF4-FFF2-40B4-BE49-F238E27FC236}">
                <a16:creationId xmlns:a16="http://schemas.microsoft.com/office/drawing/2014/main" id="{C88A67D0-B01F-4CC8-B248-2CF85911F456}"/>
              </a:ext>
            </a:extLst>
          </p:cNvPr>
          <p:cNvSpPr/>
          <p:nvPr userDrawn="1"/>
        </p:nvSpPr>
        <p:spPr>
          <a:xfrm flipH="1">
            <a:off x="4778156" y="1565771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1" name="Freeform: Shape 52">
            <a:extLst>
              <a:ext uri="{FF2B5EF4-FFF2-40B4-BE49-F238E27FC236}">
                <a16:creationId xmlns:a16="http://schemas.microsoft.com/office/drawing/2014/main" id="{DBF6CA39-E979-4287-833E-20A9B455F7D6}"/>
              </a:ext>
            </a:extLst>
          </p:cNvPr>
          <p:cNvSpPr/>
          <p:nvPr userDrawn="1"/>
        </p:nvSpPr>
        <p:spPr>
          <a:xfrm flipH="1">
            <a:off x="3565843" y="2247823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2" name="Freeform: Shape 53">
            <a:extLst>
              <a:ext uri="{FF2B5EF4-FFF2-40B4-BE49-F238E27FC236}">
                <a16:creationId xmlns:a16="http://schemas.microsoft.com/office/drawing/2014/main" id="{9EAA4E60-7510-4920-A426-5630491CFAC2}"/>
              </a:ext>
            </a:extLst>
          </p:cNvPr>
          <p:cNvSpPr/>
          <p:nvPr userDrawn="1"/>
        </p:nvSpPr>
        <p:spPr>
          <a:xfrm flipH="1">
            <a:off x="3565952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3" name="Freeform: Shape 54">
            <a:extLst>
              <a:ext uri="{FF2B5EF4-FFF2-40B4-BE49-F238E27FC236}">
                <a16:creationId xmlns:a16="http://schemas.microsoft.com/office/drawing/2014/main" id="{322F7ECD-1942-42EE-B5E0-FC1E0206BFFD}"/>
              </a:ext>
            </a:extLst>
          </p:cNvPr>
          <p:cNvSpPr/>
          <p:nvPr userDrawn="1"/>
        </p:nvSpPr>
        <p:spPr>
          <a:xfrm flipH="1">
            <a:off x="2386318" y="296278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4" name="Freeform: Shape 55">
            <a:extLst>
              <a:ext uri="{FF2B5EF4-FFF2-40B4-BE49-F238E27FC236}">
                <a16:creationId xmlns:a16="http://schemas.microsoft.com/office/drawing/2014/main" id="{2465D6BD-72DA-4C13-97C2-7CF8D7F2F0C4}"/>
              </a:ext>
            </a:extLst>
          </p:cNvPr>
          <p:cNvSpPr/>
          <p:nvPr userDrawn="1"/>
        </p:nvSpPr>
        <p:spPr>
          <a:xfrm flipH="1">
            <a:off x="1190302" y="361221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5" name="Content placeholder 47" descr="Click icon to add picture">
            <a:extLst>
              <a:ext uri="{FF2B5EF4-FFF2-40B4-BE49-F238E27FC236}">
                <a16:creationId xmlns:a16="http://schemas.microsoft.com/office/drawing/2014/main" id="{E7C6BEEA-1766-44A1-A28D-2E817DBF226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07136" y="386500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6" name="Content placeholder 47">
            <a:extLst>
              <a:ext uri="{FF2B5EF4-FFF2-40B4-BE49-F238E27FC236}">
                <a16:creationId xmlns:a16="http://schemas.microsoft.com/office/drawing/2014/main" id="{597D4D7A-8D7E-492C-8795-D491CF53B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07136" y="444707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7" name="Content placeholder 47" descr="Click icon to add picture">
            <a:extLst>
              <a:ext uri="{FF2B5EF4-FFF2-40B4-BE49-F238E27FC236}">
                <a16:creationId xmlns:a16="http://schemas.microsoft.com/office/drawing/2014/main" id="{A7396594-2DE7-4DB9-B6B4-92F63F06EFC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889942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8" name="Content placeholder 47">
            <a:extLst>
              <a:ext uri="{FF2B5EF4-FFF2-40B4-BE49-F238E27FC236}">
                <a16:creationId xmlns:a16="http://schemas.microsoft.com/office/drawing/2014/main" id="{CC680CF7-ED60-4FFF-B04E-B24ECDDD351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89942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9" name="Content placeholder 47" descr="Click icon to add picture">
            <a:extLst>
              <a:ext uri="{FF2B5EF4-FFF2-40B4-BE49-F238E27FC236}">
                <a16:creationId xmlns:a16="http://schemas.microsoft.com/office/drawing/2014/main" id="{042E6E66-3835-45DF-80D9-C4AFDF3401F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07230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0" name="Content placeholder 47">
            <a:extLst>
              <a:ext uri="{FF2B5EF4-FFF2-40B4-BE49-F238E27FC236}">
                <a16:creationId xmlns:a16="http://schemas.microsoft.com/office/drawing/2014/main" id="{A6E85C70-1784-4A0C-8897-EDE98D39BC0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07230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1" name="Content placeholder 47" descr="Click icon to add picture">
            <a:extLst>
              <a:ext uri="{FF2B5EF4-FFF2-40B4-BE49-F238E27FC236}">
                <a16:creationId xmlns:a16="http://schemas.microsoft.com/office/drawing/2014/main" id="{4CD55BC2-05D0-49CB-B0A5-C96ACB411B5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501941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2" name="Content placeholder 47">
            <a:extLst>
              <a:ext uri="{FF2B5EF4-FFF2-40B4-BE49-F238E27FC236}">
                <a16:creationId xmlns:a16="http://schemas.microsoft.com/office/drawing/2014/main" id="{49DB7120-2F2C-4F89-AA8C-ABC4F3FF25F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01941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3" name="Content placeholder 47" descr="Click icon to add picture">
            <a:extLst>
              <a:ext uri="{FF2B5EF4-FFF2-40B4-BE49-F238E27FC236}">
                <a16:creationId xmlns:a16="http://schemas.microsoft.com/office/drawing/2014/main" id="{AEB1F7BA-7D83-4C23-A72B-82DF9377E9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734718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4" name="Content placeholder 47">
            <a:extLst>
              <a:ext uri="{FF2B5EF4-FFF2-40B4-BE49-F238E27FC236}">
                <a16:creationId xmlns:a16="http://schemas.microsoft.com/office/drawing/2014/main" id="{7C32F3EB-1AC3-40E9-B66D-ADB19CC74F0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734718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7E7569-B8BF-39D0-D742-EF98B83E4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914" y="726705"/>
            <a:ext cx="10515600" cy="1205058"/>
          </a:xfrm>
        </p:spPr>
        <p:txBody>
          <a:bodyPr anchor="t">
            <a:noAutofit/>
          </a:bodyPr>
          <a:lstStyle>
            <a:lvl1pPr algn="l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C159C7-D006-5B5F-1FEA-689C432B8C8C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EBABD-E264-2C96-1139-289A712F35B7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90880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 flipH="1">
            <a:off x="769290" y="491100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 flipH="1">
            <a:off x="783145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 flipH="1">
            <a:off x="0" y="3709992"/>
            <a:ext cx="115794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1" name="Subtitle 47" descr="Click icon to add picture">
            <a:extLst>
              <a:ext uri="{FF2B5EF4-FFF2-40B4-BE49-F238E27FC236}">
                <a16:creationId xmlns:a16="http://schemas.microsoft.com/office/drawing/2014/main" id="{0C7786BA-5E56-47AA-AE47-4EC07A0D4FA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50705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80214CF-87DD-476A-9B2E-A58DB313A6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50705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Picture placeholder">
            <a:extLst>
              <a:ext uri="{FF2B5EF4-FFF2-40B4-BE49-F238E27FC236}">
                <a16:creationId xmlns:a16="http://schemas.microsoft.com/office/drawing/2014/main" id="{264CF63C-079E-41AA-AA9A-762A765E699F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1788170" y="2296125"/>
            <a:ext cx="1886360" cy="214466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704" y="1690878"/>
            <a:ext cx="6599429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Subtitle 47" descr="Click icon to add picture">
            <a:extLst>
              <a:ext uri="{FF2B5EF4-FFF2-40B4-BE49-F238E27FC236}">
                <a16:creationId xmlns:a16="http://schemas.microsoft.com/office/drawing/2014/main" id="{3C2C4001-E56F-4174-01AA-4630360BFF4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811506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02DFC856-C546-62E9-220F-7A668D34905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811506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F946AB17-3782-8412-C51A-DE10A0637453}"/>
              </a:ext>
            </a:extLst>
          </p:cNvPr>
          <p:cNvSpPr/>
          <p:nvPr userDrawn="1"/>
        </p:nvSpPr>
        <p:spPr>
          <a:xfrm>
            <a:off x="0" y="2860787"/>
            <a:ext cx="2361029" cy="3676532"/>
          </a:xfrm>
          <a:custGeom>
            <a:avLst/>
            <a:gdLst>
              <a:gd name="connsiteX0" fmla="*/ 773997 w 2361029"/>
              <a:gd name="connsiteY0" fmla="*/ 0 h 3676532"/>
              <a:gd name="connsiteX1" fmla="*/ 2361029 w 2361029"/>
              <a:gd name="connsiteY1" fmla="*/ 925683 h 3676532"/>
              <a:gd name="connsiteX2" fmla="*/ 2361029 w 2361029"/>
              <a:gd name="connsiteY2" fmla="*/ 2763949 h 3676532"/>
              <a:gd name="connsiteX3" fmla="*/ 769661 w 2361029"/>
              <a:gd name="connsiteY3" fmla="*/ 3676532 h 3676532"/>
              <a:gd name="connsiteX4" fmla="*/ 0 w 2361029"/>
              <a:gd name="connsiteY4" fmla="*/ 3234717 h 3676532"/>
              <a:gd name="connsiteX5" fmla="*/ 0 w 2361029"/>
              <a:gd name="connsiteY5" fmla="*/ 44688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61029" h="3676532">
                <a:moveTo>
                  <a:pt x="773997" y="0"/>
                </a:moveTo>
                <a:lnTo>
                  <a:pt x="2361029" y="925683"/>
                </a:lnTo>
                <a:lnTo>
                  <a:pt x="2361029" y="2763949"/>
                </a:lnTo>
                <a:lnTo>
                  <a:pt x="769661" y="3676532"/>
                </a:lnTo>
                <a:lnTo>
                  <a:pt x="0" y="3234717"/>
                </a:lnTo>
                <a:lnTo>
                  <a:pt x="0" y="446885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1014233" y="5253270"/>
            <a:ext cx="1710765" cy="1593273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2" name="Content Placeholder 47" descr="Click icon to add picture">
            <a:extLst>
              <a:ext uri="{FF2B5EF4-FFF2-40B4-BE49-F238E27FC236}">
                <a16:creationId xmlns:a16="http://schemas.microsoft.com/office/drawing/2014/main" id="{95ADF367-2619-4E00-AB82-8FFF41D0E5C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71609" y="1025236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CEB04CE-793E-47B4-8D80-9B82864F2CD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71608" y="1469069"/>
            <a:ext cx="5162709" cy="150616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067BF8FD-2643-4122-BE3E-63F413244E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1609" y="2984685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02260D10-FEA1-48A7-B544-FAEEAECF5DE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71607" y="4597473"/>
            <a:ext cx="5162709" cy="421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64584B30-8BCF-4D75-8A6C-FD82347CC7B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71608" y="3419684"/>
            <a:ext cx="5162709" cy="117778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A4A25056-27FA-4039-ACFA-6624F778712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71608" y="5041922"/>
            <a:ext cx="5162709" cy="163593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631891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65" y="707105"/>
            <a:ext cx="3994173" cy="2277580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E53E8C9F-CD73-30CD-1F24-20F2E6149D58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734172" y="1141669"/>
            <a:ext cx="507778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CE61E189-349E-0076-EA43-7BCB6E24CE8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724705" y="3105650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68B04572-5D47-C3DF-CDEA-15EC646EA8FE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714069" y="4716041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47">
            <a:extLst>
              <a:ext uri="{FF2B5EF4-FFF2-40B4-BE49-F238E27FC236}">
                <a16:creationId xmlns:a16="http://schemas.microsoft.com/office/drawing/2014/main" id="{3EDD8D3E-653B-4A9E-9868-3B013A65FE9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8" name="Content Placeholder 47">
            <a:extLst>
              <a:ext uri="{FF2B5EF4-FFF2-40B4-BE49-F238E27FC236}">
                <a16:creationId xmlns:a16="http://schemas.microsoft.com/office/drawing/2014/main" id="{DD4E6A9F-7400-917B-6A6B-6BAB445E8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7427" y="3253120"/>
            <a:ext cx="4959822" cy="20071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19" name="Freeform: Shape 25">
            <a:extLst>
              <a:ext uri="{FF2B5EF4-FFF2-40B4-BE49-F238E27FC236}">
                <a16:creationId xmlns:a16="http://schemas.microsoft.com/office/drawing/2014/main" id="{D7BBD3E8-D5DD-C21F-3792-4880373CCDCC}"/>
              </a:ext>
            </a:extLst>
          </p:cNvPr>
          <p:cNvSpPr/>
          <p:nvPr userDrawn="1"/>
        </p:nvSpPr>
        <p:spPr>
          <a:xfrm flipH="1">
            <a:off x="7400972" y="4508725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0" name="Freeform: Shape 11">
            <a:extLst>
              <a:ext uri="{FF2B5EF4-FFF2-40B4-BE49-F238E27FC236}">
                <a16:creationId xmlns:a16="http://schemas.microsoft.com/office/drawing/2014/main" id="{FC461D80-0CAC-62E5-726A-63B48BEF3F25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944167-AFE9-AE61-AF44-B9AEE24D1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427" y="2497488"/>
            <a:ext cx="9823998" cy="1325563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7268D53-92DA-7335-4DAB-83485CAF3FE9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FCB16-3643-AB04-D20E-A14FFE07F67C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132766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073CD90F-1E45-47EC-B558-D5F638F5FE6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754948" y="250209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9A501203-35D0-41A5-A2A4-9F05FAB495C4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91110" y="2493385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1FA62038-8BB7-45FD-896E-34738A5578BD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5151412" y="5238680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9A7E0EE6-5885-489B-81A9-65DBC0016938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3948599" y="319492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3093990"/>
            <a:ext cx="3034145" cy="187979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703538"/>
            <a:ext cx="5055698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52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8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cartridgeworldusa.com/blog/printer-cartridge-refill-vs-replacement-which-option-is-better-for-you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://www.hp.com/us-en/shop/tech-takes/5-reasons-youll-regret-using-refill-ink" TargetMode="External"/><Relationship Id="rId5" Type="http://schemas.openxmlformats.org/officeDocument/2006/relationships/hyperlink" Target="http://www.hp.com/us-en/shop/tech-takes/are-off-brand-ink-cartridges-as-good-as-name-brand" TargetMode="External"/><Relationship Id="rId4" Type="http://schemas.openxmlformats.org/officeDocument/2006/relationships/hyperlink" Target="https://www.inkjets.com/blogs/printer-ink-guides/hp-cartridges-for-printers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quill.com/blog/oem-vs-remanufactured-vs-compatible-printer-cartridges-whats-the-difference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www.tonerbuzz.com/blog/toner-cartridges-genuine-oem-vs-compatible-vs-remanufactured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9337" y="94224"/>
            <a:ext cx="7993326" cy="2274905"/>
          </a:xfrm>
        </p:spPr>
        <p:txBody>
          <a:bodyPr/>
          <a:lstStyle/>
          <a:p>
            <a:r>
              <a:rPr lang="en-US" sz="6600" dirty="0"/>
              <a:t>OEM Printer Cartridge </a:t>
            </a:r>
            <a:br>
              <a:rPr lang="en-US" sz="6600" dirty="0"/>
            </a:br>
            <a:r>
              <a:rPr lang="en-US" sz="6600" dirty="0"/>
              <a:t>vs. Refilled Cartridges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32557DA6-3BDC-C59B-426E-C517992D2BC1}"/>
              </a:ext>
            </a:extLst>
          </p:cNvPr>
          <p:cNvSpPr txBox="1">
            <a:spLocks/>
          </p:cNvSpPr>
          <p:nvPr/>
        </p:nvSpPr>
        <p:spPr>
          <a:xfrm>
            <a:off x="0" y="2760307"/>
            <a:ext cx="7376739" cy="5271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800" b="1" dirty="0"/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sz="2800" dirty="0"/>
          </a:p>
          <a:p>
            <a:endParaRPr lang="en-US" sz="280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9EC0BF9-87AD-718F-F039-2C424901D97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24939" y="6541296"/>
            <a:ext cx="10342118" cy="1294530"/>
          </a:xfrm>
        </p:spPr>
        <p:txBody>
          <a:bodyPr/>
          <a:lstStyle/>
          <a:p>
            <a:r>
              <a:rPr lang="en-US" sz="1600" dirty="0"/>
              <a:t>This analysis was prepared by the User Support Team for the Production Department of a book publishing company.</a:t>
            </a:r>
            <a:endParaRPr lang="en-US" sz="1200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103A9B9-944C-E60E-EDD7-1ACFDA6A532B}"/>
              </a:ext>
            </a:extLst>
          </p:cNvPr>
          <p:cNvSpPr txBox="1">
            <a:spLocks/>
          </p:cNvSpPr>
          <p:nvPr/>
        </p:nvSpPr>
        <p:spPr>
          <a:xfrm>
            <a:off x="3520400" y="6163115"/>
            <a:ext cx="5151195" cy="12945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Bianca Guimaraes Barros Leal Santos</a:t>
            </a:r>
            <a:endParaRPr lang="en-US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ADF48C-3C1E-44FC-D0F3-5EB5C0D9DA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61" b="89844" l="9961" r="96615">
                        <a14:foregroundMark x1="33138" y1="42383" x2="38997" y2="44727"/>
                        <a14:foregroundMark x1="38997" y1="44727" x2="35938" y2="42773"/>
                        <a14:foregroundMark x1="13477" y1="32715" x2="12109" y2="40039"/>
                        <a14:foregroundMark x1="11704" y1="36230" x2="11654" y2="37695"/>
                        <a14:foregroundMark x1="11721" y1="35742" x2="11704" y2="36230"/>
                        <a14:foregroundMark x1="11784" y1="33887" x2="11721" y2="35742"/>
                        <a14:foregroundMark x1="11313" y1="36230" x2="11328" y2="36719"/>
                        <a14:foregroundMark x1="11298" y1="35742" x2="11313" y2="36230"/>
                        <a14:foregroundMark x1="11198" y1="32520" x2="11298" y2="35742"/>
                        <a14:foregroundMark x1="10718" y1="35742" x2="11003" y2="32324"/>
                        <a14:foregroundMark x1="10677" y1="36230" x2="10718" y2="35742"/>
                        <a14:foregroundMark x1="80273" y1="56348" x2="78516" y2="47266"/>
                        <a14:foregroundMark x1="89128" y1="26172" x2="91667" y2="24121"/>
                        <a14:foregroundMark x1="93359" y1="18750" x2="92578" y2="21484"/>
                        <a14:foregroundMark x1="93490" y1="43945" x2="93555" y2="67578"/>
                        <a14:foregroundMark x1="93555" y1="67578" x2="93815" y2="68750"/>
                        <a14:foregroundMark x1="75130" y1="55176" x2="75586" y2="51953"/>
                        <a14:foregroundMark x1="96029" y1="56348" x2="96615" y2="62891"/>
                        <a14:foregroundMark x1="90885" y1="51660" x2="91016" y2="56641"/>
                        <a14:backgroundMark x1="62956" y1="23828" x2="59961" y2="58008"/>
                        <a14:backgroundMark x1="88216" y1="55664" x2="87891" y2="62695"/>
                        <a14:backgroundMark x1="88021" y1="69238" x2="88021" y2="79102"/>
                        <a14:backgroundMark x1="85872" y1="73926" x2="86523" y2="71094"/>
                        <a14:backgroundMark x1="10417" y1="35742" x2="10417" y2="35742"/>
                        <a14:backgroundMark x1="10547" y1="36230" x2="10547" y2="36230"/>
                      </a14:backgroundRemoval>
                    </a14:imgEffect>
                  </a14:imgLayer>
                </a14:imgProps>
              </a:ext>
            </a:extLst>
          </a:blip>
          <a:srcRect t="8467" r="55793" b="19823"/>
          <a:stretch>
            <a:fillRect/>
          </a:stretch>
        </p:blipFill>
        <p:spPr>
          <a:xfrm>
            <a:off x="1130328" y="1505724"/>
            <a:ext cx="4597809" cy="49722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FF5D25A-291D-3703-989B-C61DC84570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61" b="89844" l="9961" r="96615">
                        <a14:foregroundMark x1="33138" y1="42383" x2="38997" y2="44727"/>
                        <a14:foregroundMark x1="38997" y1="44727" x2="35938" y2="42773"/>
                        <a14:foregroundMark x1="13477" y1="32715" x2="12109" y2="40039"/>
                        <a14:foregroundMark x1="11704" y1="36230" x2="11654" y2="37695"/>
                        <a14:foregroundMark x1="11721" y1="35742" x2="11704" y2="36230"/>
                        <a14:foregroundMark x1="11784" y1="33887" x2="11721" y2="35742"/>
                        <a14:foregroundMark x1="11313" y1="36230" x2="11328" y2="36719"/>
                        <a14:foregroundMark x1="11298" y1="35742" x2="11313" y2="36230"/>
                        <a14:foregroundMark x1="11198" y1="32520" x2="11298" y2="35742"/>
                        <a14:foregroundMark x1="10718" y1="35742" x2="11003" y2="32324"/>
                        <a14:foregroundMark x1="10677" y1="36230" x2="10718" y2="35742"/>
                        <a14:foregroundMark x1="80273" y1="56348" x2="78516" y2="47266"/>
                        <a14:foregroundMark x1="89128" y1="26172" x2="91667" y2="24121"/>
                        <a14:foregroundMark x1="93359" y1="18750" x2="92578" y2="21484"/>
                        <a14:foregroundMark x1="93490" y1="43945" x2="93555" y2="67578"/>
                        <a14:foregroundMark x1="93555" y1="67578" x2="93815" y2="68750"/>
                        <a14:foregroundMark x1="75130" y1="55176" x2="75586" y2="51953"/>
                        <a14:foregroundMark x1="96029" y1="56348" x2="96615" y2="62891"/>
                        <a14:foregroundMark x1="90885" y1="51660" x2="91016" y2="56641"/>
                        <a14:backgroundMark x1="62956" y1="23828" x2="59961" y2="58008"/>
                        <a14:backgroundMark x1="88216" y1="55664" x2="87891" y2="62695"/>
                        <a14:backgroundMark x1="88021" y1="69238" x2="88021" y2="79102"/>
                        <a14:backgroundMark x1="85872" y1="73926" x2="86523" y2="71094"/>
                        <a14:backgroundMark x1="10417" y1="35742" x2="10417" y2="35742"/>
                        <a14:backgroundMark x1="10547" y1="36230" x2="10547" y2="36230"/>
                      </a14:backgroundRemoval>
                    </a14:imgEffect>
                  </a14:imgLayer>
                </a14:imgProps>
              </a:ext>
            </a:extLst>
          </a:blip>
          <a:srcRect l="65451" t="10988" b="16221"/>
          <a:stretch>
            <a:fillRect/>
          </a:stretch>
        </p:blipFill>
        <p:spPr>
          <a:xfrm>
            <a:off x="6620140" y="1769751"/>
            <a:ext cx="3352060" cy="470825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83C7D5B-3DFF-5609-E39C-480551D5FA2C}"/>
              </a:ext>
            </a:extLst>
          </p:cNvPr>
          <p:cNvSpPr txBox="1"/>
          <p:nvPr/>
        </p:nvSpPr>
        <p:spPr>
          <a:xfrm>
            <a:off x="5938028" y="4162825"/>
            <a:ext cx="6821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vs. </a:t>
            </a:r>
          </a:p>
        </p:txBody>
      </p:sp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E153B-4033-2D4B-AD99-154B1D203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45448DD-06A7-1CB8-091B-EF50803025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31" name="Title 30">
            <a:extLst>
              <a:ext uri="{FF2B5EF4-FFF2-40B4-BE49-F238E27FC236}">
                <a16:creationId xmlns:a16="http://schemas.microsoft.com/office/drawing/2014/main" id="{C3B767C2-E402-011E-2324-8E41F0466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1215831"/>
            <a:ext cx="5117162" cy="1325563"/>
          </a:xfrm>
        </p:spPr>
        <p:txBody>
          <a:bodyPr anchor="ctr">
            <a:noAutofit/>
          </a:bodyPr>
          <a:lstStyle/>
          <a:p>
            <a:r>
              <a:rPr lang="en-US" sz="5400"/>
              <a:t>Why This Topic Matters</a:t>
            </a:r>
            <a:endParaRPr lang="en-US" sz="5400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0DE0FEC-E30F-332C-5AC1-2440CC8F455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09574" y="2902145"/>
            <a:ext cx="5117162" cy="3074583"/>
          </a:xfrm>
        </p:spPr>
        <p:txBody>
          <a:bodyPr>
            <a:no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/>
              <a:t>Production uses many printers every day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/>
              <a:t>OEM cartridges are expensive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/>
              <a:t>Some employees believe refilled cartridges could save money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/>
              <a:t>Support team must consider reliability and problems</a:t>
            </a:r>
            <a:endParaRPr lang="en-US" sz="24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D91F55-B48E-5B8B-A7CC-4293EDD4232B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smtClean="0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 altLang="zh-C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8718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BBBB3-D356-B1CF-E301-4DC3D9831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30">
            <a:extLst>
              <a:ext uri="{FF2B5EF4-FFF2-40B4-BE49-F238E27FC236}">
                <a16:creationId xmlns:a16="http://schemas.microsoft.com/office/drawing/2014/main" id="{99A8B46C-9C3D-77C9-6DC6-CDDAA1587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1215831"/>
            <a:ext cx="5117162" cy="1325563"/>
          </a:xfrm>
        </p:spPr>
        <p:txBody>
          <a:bodyPr anchor="ctr">
            <a:noAutofit/>
          </a:bodyPr>
          <a:lstStyle/>
          <a:p>
            <a:r>
              <a:rPr lang="en-US" sz="5400" dirty="0"/>
              <a:t>What Is an OEM Cartridge?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EF9D2FA3-3057-3457-77B7-A6C8E9E381D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09574" y="2902145"/>
            <a:ext cx="5117162" cy="3074583"/>
          </a:xfrm>
        </p:spPr>
        <p:txBody>
          <a:bodyPr>
            <a:no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Made by the printer manufacturer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Designed specifically for the printer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Very reliable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Usually more expensive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7F9F2B-2E9A-E11F-FC46-11504B475618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smtClean="0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3</a:t>
            </a:fld>
            <a:endParaRPr lang="en-US" altLang="zh-CN" dirty="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3236F5D-DDFE-7784-ED74-E93ABB62A3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1327" y="1125776"/>
            <a:ext cx="4562842" cy="4562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478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A74D1-187A-C33C-FC22-27E00EEE7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Should You Refill Your Printer's Ink Cartridges? | 499inks">
            <a:extLst>
              <a:ext uri="{FF2B5EF4-FFF2-40B4-BE49-F238E27FC236}">
                <a16:creationId xmlns:a16="http://schemas.microsoft.com/office/drawing/2014/main" id="{3AF5B4D5-63D8-E3DC-19BF-611567C6F7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14" r="3940"/>
          <a:stretch>
            <a:fillRect/>
          </a:stretch>
        </p:blipFill>
        <p:spPr bwMode="auto">
          <a:xfrm>
            <a:off x="6061202" y="0"/>
            <a:ext cx="613079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Title 30">
            <a:extLst>
              <a:ext uri="{FF2B5EF4-FFF2-40B4-BE49-F238E27FC236}">
                <a16:creationId xmlns:a16="http://schemas.microsoft.com/office/drawing/2014/main" id="{A2AE2D05-D709-B784-BBC1-53FEE1595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1215831"/>
            <a:ext cx="5586426" cy="1325563"/>
          </a:xfrm>
        </p:spPr>
        <p:txBody>
          <a:bodyPr anchor="ctr">
            <a:noAutofit/>
          </a:bodyPr>
          <a:lstStyle/>
          <a:p>
            <a:r>
              <a:rPr lang="en-US" sz="5400" dirty="0"/>
              <a:t>What Is a Refilled Cartridge?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856E3234-2F52-5452-D98B-A274E17E42C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09574" y="2902145"/>
            <a:ext cx="5117162" cy="3074583"/>
          </a:xfrm>
        </p:spPr>
        <p:txBody>
          <a:bodyPr>
            <a:no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Used OEM cartridge that is cleaned and refilled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Sold by third-party companies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Lower cost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Quality depends on the supplier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F2D0DE-7931-C559-4A7C-11565D21F650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smtClean="0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 altLang="zh-C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2758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8A50F-7E00-DA04-4125-0105C9F03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841B27-15C8-228A-FE83-4D64C321559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619" b="15541"/>
          <a:stretch>
            <a:fillRect/>
          </a:stretch>
        </p:blipFill>
        <p:spPr>
          <a:xfrm>
            <a:off x="6181288" y="1302326"/>
            <a:ext cx="6010712" cy="4197929"/>
          </a:xfrm>
          <a:prstGeom prst="rect">
            <a:avLst/>
          </a:prstGeom>
        </p:spPr>
      </p:pic>
      <p:sp>
        <p:nvSpPr>
          <p:cNvPr id="31" name="Title 30">
            <a:extLst>
              <a:ext uri="{FF2B5EF4-FFF2-40B4-BE49-F238E27FC236}">
                <a16:creationId xmlns:a16="http://schemas.microsoft.com/office/drawing/2014/main" id="{E8C7B50C-0478-98DF-A9F2-F39FFC265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772662"/>
            <a:ext cx="5586426" cy="1325563"/>
          </a:xfrm>
        </p:spPr>
        <p:txBody>
          <a:bodyPr anchor="ctr">
            <a:noAutofit/>
          </a:bodyPr>
          <a:lstStyle/>
          <a:p>
            <a:r>
              <a:rPr lang="en-US" sz="5400" dirty="0"/>
              <a:t>Cost Comparison (Example Printer)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DEB7C935-7CEF-20B6-557A-F0CEA2EE0B8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09573" y="2424546"/>
            <a:ext cx="5752681" cy="4532572"/>
          </a:xfrm>
        </p:spPr>
        <p:txBody>
          <a:bodyPr>
            <a:no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Example printer: HP </a:t>
            </a:r>
            <a:r>
              <a:rPr lang="en-US" sz="2400" dirty="0" err="1"/>
              <a:t>OfficeJet</a:t>
            </a:r>
            <a:r>
              <a:rPr lang="en-US" sz="2400" dirty="0"/>
              <a:t> Pro 6978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OEM HP cartridge: higher price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Refilled cartridge: about 30–50% cheaper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OEM: higher page yield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Refilled: may require more frequent replacement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780E52-89B0-4AF2-E70B-7D71FB498905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smtClean="0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 altLang="zh-C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9168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70B07-5D88-9D47-D7F9-6EB98464B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30">
            <a:extLst>
              <a:ext uri="{FF2B5EF4-FFF2-40B4-BE49-F238E27FC236}">
                <a16:creationId xmlns:a16="http://schemas.microsoft.com/office/drawing/2014/main" id="{8884F406-C784-AB4F-F034-94554DCB4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1215831"/>
            <a:ext cx="5586426" cy="1325563"/>
          </a:xfrm>
        </p:spPr>
        <p:txBody>
          <a:bodyPr anchor="ctr">
            <a:noAutofit/>
          </a:bodyPr>
          <a:lstStyle/>
          <a:p>
            <a:r>
              <a:rPr lang="en-US" sz="5400"/>
              <a:t>Factors Other Than Cost</a:t>
            </a:r>
            <a:endParaRPr lang="en-US" sz="5400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BD9E02-01FB-3507-6D09-B9D87006858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09574" y="2902145"/>
            <a:ext cx="5240062" cy="3074583"/>
          </a:xfrm>
        </p:spPr>
        <p:txBody>
          <a:bodyPr>
            <a:no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Print quality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Page yield (how long cartridges last)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Printer reliability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Warranty coverage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Environmental impact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7CBD79-02A1-8BFE-53C6-A81BC354405A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smtClean="0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6</a:t>
            </a:fld>
            <a:endParaRPr lang="en-US" altLang="zh-CN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6014A3-65D2-15E8-DF7D-BACCBA7AD5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246"/>
          <a:stretch>
            <a:fillRect/>
          </a:stretch>
        </p:blipFill>
        <p:spPr>
          <a:xfrm>
            <a:off x="5749636" y="1301353"/>
            <a:ext cx="6294535" cy="467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991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77333-AA9D-B649-7C5C-F175EEF9E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1EA661-517D-14F7-1049-DDE9782988C0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smtClean="0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7</a:t>
            </a:fld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9" name="Title 30">
            <a:extLst>
              <a:ext uri="{FF2B5EF4-FFF2-40B4-BE49-F238E27FC236}">
                <a16:creationId xmlns:a16="http://schemas.microsoft.com/office/drawing/2014/main" id="{478A8A87-0769-E5E1-9CC6-A552C1036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488" y="551005"/>
            <a:ext cx="11177273" cy="1325563"/>
          </a:xfrm>
        </p:spPr>
        <p:txBody>
          <a:bodyPr anchor="ctr">
            <a:normAutofit/>
          </a:bodyPr>
          <a:lstStyle/>
          <a:p>
            <a:pPr algn="ctr"/>
            <a:r>
              <a:rPr lang="en-US" sz="5400" dirty="0"/>
              <a:t>Pros and Cons of OEM Cartridges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9A21D2-1B0A-CA96-6630-DB03E838F086}"/>
              </a:ext>
            </a:extLst>
          </p:cNvPr>
          <p:cNvSpPr txBox="1"/>
          <p:nvPr/>
        </p:nvSpPr>
        <p:spPr>
          <a:xfrm>
            <a:off x="1031534" y="2315373"/>
            <a:ext cx="5064466" cy="2802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 ✅ Pros</a:t>
            </a:r>
          </a:p>
          <a:p>
            <a:pPr marL="5143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✨ Best print quality </a:t>
            </a:r>
          </a:p>
          <a:p>
            <a:pPr marL="5143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🤝 Most reliable</a:t>
            </a:r>
          </a:p>
          <a:p>
            <a:pPr marL="5143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🛡️ Covered by manufacturer warranty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F433B2-4DE0-B130-6281-5ADF0372C451}"/>
              </a:ext>
            </a:extLst>
          </p:cNvPr>
          <p:cNvSpPr txBox="1"/>
          <p:nvPr/>
        </p:nvSpPr>
        <p:spPr>
          <a:xfrm>
            <a:off x="6490447" y="2315374"/>
            <a:ext cx="5162314" cy="1692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 ⛔ Cons</a:t>
            </a:r>
          </a:p>
          <a:p>
            <a:pPr marL="5143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💵 Higher cost </a:t>
            </a:r>
          </a:p>
          <a:p>
            <a:pPr marL="5143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♻️ More new materials used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7B0EB6B-FF5A-6F32-1707-404CD35E4B56}"/>
              </a:ext>
            </a:extLst>
          </p:cNvPr>
          <p:cNvCxnSpPr>
            <a:cxnSpLocks/>
          </p:cNvCxnSpPr>
          <p:nvPr/>
        </p:nvCxnSpPr>
        <p:spPr>
          <a:xfrm>
            <a:off x="6096000" y="2315373"/>
            <a:ext cx="0" cy="2984821"/>
          </a:xfrm>
          <a:prstGeom prst="line">
            <a:avLst/>
          </a:prstGeom>
          <a:ln>
            <a:solidFill>
              <a:srgbClr val="0F253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33229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AD956-10E9-97B1-9200-6D905DAC6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916D23-3104-62A2-F269-66BAEA66F5B2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smtClean="0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8</a:t>
            </a:fld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9" name="Title 30">
            <a:extLst>
              <a:ext uri="{FF2B5EF4-FFF2-40B4-BE49-F238E27FC236}">
                <a16:creationId xmlns:a16="http://schemas.microsoft.com/office/drawing/2014/main" id="{CCFC055D-E8AA-7A56-CC02-9E29FAC6E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488" y="551005"/>
            <a:ext cx="11177273" cy="1325563"/>
          </a:xfrm>
        </p:spPr>
        <p:txBody>
          <a:bodyPr anchor="ctr">
            <a:normAutofit/>
          </a:bodyPr>
          <a:lstStyle/>
          <a:p>
            <a:pPr algn="ctr"/>
            <a:r>
              <a:rPr lang="en-US" sz="5400" dirty="0"/>
              <a:t>Pros and Cons of Refilled Cartridges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B9DAE9-2EB2-B6FC-0B64-09DF594A9291}"/>
              </a:ext>
            </a:extLst>
          </p:cNvPr>
          <p:cNvSpPr txBox="1"/>
          <p:nvPr/>
        </p:nvSpPr>
        <p:spPr>
          <a:xfrm>
            <a:off x="1031534" y="2315373"/>
            <a:ext cx="3394161" cy="1694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 ✅ Pros</a:t>
            </a:r>
          </a:p>
          <a:p>
            <a:pPr marL="5143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💵 Lower cost</a:t>
            </a:r>
          </a:p>
          <a:p>
            <a:pPr marL="5143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♻️ Less waste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8F0BFD-30FF-DFB6-4123-1064BD0A5649}"/>
              </a:ext>
            </a:extLst>
          </p:cNvPr>
          <p:cNvSpPr txBox="1"/>
          <p:nvPr/>
        </p:nvSpPr>
        <p:spPr>
          <a:xfrm>
            <a:off x="6519649" y="2315374"/>
            <a:ext cx="5495062" cy="2802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 ⛔ Cons</a:t>
            </a:r>
          </a:p>
          <a:p>
            <a:pPr marL="5143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✨ Inconsistent print quality</a:t>
            </a:r>
          </a:p>
          <a:p>
            <a:pPr marL="5143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⌛ Shorter lifespan</a:t>
            </a:r>
          </a:p>
          <a:p>
            <a:pPr marL="5143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⚠️ Risk of leaks or printer damage</a:t>
            </a:r>
          </a:p>
          <a:p>
            <a:pPr marL="5143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🛡️ Possible warranty issues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67BDBA2-2380-0E3F-3BCA-FBF49F199FF2}"/>
              </a:ext>
            </a:extLst>
          </p:cNvPr>
          <p:cNvCxnSpPr>
            <a:cxnSpLocks/>
          </p:cNvCxnSpPr>
          <p:nvPr/>
        </p:nvCxnSpPr>
        <p:spPr>
          <a:xfrm>
            <a:off x="6096000" y="2315373"/>
            <a:ext cx="0" cy="2984821"/>
          </a:xfrm>
          <a:prstGeom prst="line">
            <a:avLst/>
          </a:prstGeom>
          <a:ln>
            <a:solidFill>
              <a:srgbClr val="0F253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2241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8BCEF-FA6B-E0E3-19A5-8974ABE47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30">
            <a:extLst>
              <a:ext uri="{FF2B5EF4-FFF2-40B4-BE49-F238E27FC236}">
                <a16:creationId xmlns:a16="http://schemas.microsoft.com/office/drawing/2014/main" id="{844E2E50-F79D-C33E-5B62-4BF1865CC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8659" y="271175"/>
            <a:ext cx="6514681" cy="1325563"/>
          </a:xfrm>
        </p:spPr>
        <p:txBody>
          <a:bodyPr anchor="ctr">
            <a:noAutofit/>
          </a:bodyPr>
          <a:lstStyle/>
          <a:p>
            <a:r>
              <a:rPr lang="en-US" sz="5400" dirty="0"/>
              <a:t>Manufacturer Policies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EB842817-313E-75BA-156B-FEBA3C52D3F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06556" y="1891708"/>
            <a:ext cx="5117162" cy="3074583"/>
          </a:xfrm>
        </p:spPr>
        <p:txBody>
          <a:bodyPr>
            <a:no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Many manufacturers recommend using only OEM cartridges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Firmware updates may block refilled cartridges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Warning messages may appear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Damage may not be covered by warranty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2337AB-E47B-9F08-BD04-8725AE50ABDB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smtClean="0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9</a:t>
            </a:fld>
            <a:endParaRPr lang="en-US" altLang="zh-CN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D43384-6811-7DDB-DDDA-1FCB6B04CB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363" b="54933"/>
          <a:stretch>
            <a:fillRect/>
          </a:stretch>
        </p:blipFill>
        <p:spPr>
          <a:xfrm>
            <a:off x="6096000" y="1744223"/>
            <a:ext cx="5454756" cy="3369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717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A9CDC-06E5-5BC3-E93E-158913EF1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8BAB282-189C-C332-E189-8FF987A983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833" r="1677" b="-6760"/>
          <a:stretch>
            <a:fillRect/>
          </a:stretch>
        </p:blipFill>
        <p:spPr>
          <a:xfrm>
            <a:off x="5717652" y="1010839"/>
            <a:ext cx="5964774" cy="4965889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FF4930-B946-9EE3-EAFA-B713A2162D0F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smtClean="0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10</a:t>
            </a:fld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9" name="Title 30">
            <a:extLst>
              <a:ext uri="{FF2B5EF4-FFF2-40B4-BE49-F238E27FC236}">
                <a16:creationId xmlns:a16="http://schemas.microsoft.com/office/drawing/2014/main" id="{FD30FC85-EA56-9260-4233-A03D70683EBD}"/>
              </a:ext>
            </a:extLst>
          </p:cNvPr>
          <p:cNvSpPr txBox="1">
            <a:spLocks/>
          </p:cNvSpPr>
          <p:nvPr/>
        </p:nvSpPr>
        <p:spPr>
          <a:xfrm>
            <a:off x="509574" y="1215831"/>
            <a:ext cx="511716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/>
              <a:t>Impact on the Support Team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F39ADD3E-EFC3-B8FA-C7A3-74C40A8B5227}"/>
              </a:ext>
            </a:extLst>
          </p:cNvPr>
          <p:cNvSpPr txBox="1">
            <a:spLocks/>
          </p:cNvSpPr>
          <p:nvPr/>
        </p:nvSpPr>
        <p:spPr>
          <a:xfrm>
            <a:off x="509574" y="2902145"/>
            <a:ext cx="5117162" cy="30745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More printer-related problems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Harder troubleshooting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More time spent on printer tickets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Increased downtime for users</a:t>
            </a:r>
          </a:p>
        </p:txBody>
      </p:sp>
    </p:spTree>
    <p:extLst>
      <p:ext uri="{BB962C8B-B14F-4D97-AF65-F5344CB8AC3E}">
        <p14:creationId xmlns:p14="http://schemas.microsoft.com/office/powerpoint/2010/main" val="25729897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5A437-D1FA-AADA-3AE7-B9C6AB205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8">
            <a:extLst>
              <a:ext uri="{FF2B5EF4-FFF2-40B4-BE49-F238E27FC236}">
                <a16:creationId xmlns:a16="http://schemas.microsoft.com/office/drawing/2014/main" id="{BC408350-7827-C74E-365F-EFD49F518EA7}"/>
              </a:ext>
            </a:extLst>
          </p:cNvPr>
          <p:cNvSpPr txBox="1">
            <a:spLocks/>
          </p:cNvSpPr>
          <p:nvPr/>
        </p:nvSpPr>
        <p:spPr>
          <a:xfrm>
            <a:off x="509574" y="3313511"/>
            <a:ext cx="5117162" cy="30745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Printing delays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More reprints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Missed deadlines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Employee frustration</a:t>
            </a:r>
          </a:p>
          <a:p>
            <a:endParaRPr lang="en-US" sz="24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293B6F-2ADF-F318-60DE-0EA6FA580252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smtClean="0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11</a:t>
            </a:fld>
            <a:endParaRPr lang="en-US" altLang="zh-CN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A7A26C-F2CB-5495-FB3E-BB16E5D1BF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082" y="1065881"/>
            <a:ext cx="6742889" cy="4495259"/>
          </a:xfrm>
          <a:prstGeom prst="rect">
            <a:avLst/>
          </a:prstGeom>
        </p:spPr>
      </p:pic>
      <p:sp>
        <p:nvSpPr>
          <p:cNvPr id="8" name="Title 30">
            <a:extLst>
              <a:ext uri="{FF2B5EF4-FFF2-40B4-BE49-F238E27FC236}">
                <a16:creationId xmlns:a16="http://schemas.microsoft.com/office/drawing/2014/main" id="{DCAF47F9-E80D-71C1-0714-55200532E21A}"/>
              </a:ext>
            </a:extLst>
          </p:cNvPr>
          <p:cNvSpPr txBox="1">
            <a:spLocks/>
          </p:cNvSpPr>
          <p:nvPr/>
        </p:nvSpPr>
        <p:spPr>
          <a:xfrm>
            <a:off x="509574" y="1183948"/>
            <a:ext cx="5117162" cy="17144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/>
              <a:t>Impact on the Production Department</a:t>
            </a:r>
          </a:p>
        </p:txBody>
      </p:sp>
    </p:spTree>
    <p:extLst>
      <p:ext uri="{BB962C8B-B14F-4D97-AF65-F5344CB8AC3E}">
        <p14:creationId xmlns:p14="http://schemas.microsoft.com/office/powerpoint/2010/main" val="17413053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5A563-5231-A6C5-AD48-0127E2568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E12D79B7-17E1-4C0C-9516-525B9841AD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73629" y="2154000"/>
            <a:ext cx="5117162" cy="3074583"/>
          </a:xfrm>
        </p:spPr>
        <p:txBody>
          <a:bodyPr>
            <a:no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Use OEM cartridges for critical printers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Test refilled cartridges before switching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Use trusted suppliers only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Keep OEM cartridges as backup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07A219-EF61-877A-1DA8-2DF46B862789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smtClean="0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12</a:t>
            </a:fld>
            <a:endParaRPr lang="en-US" altLang="zh-CN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A4FF12-51E7-1767-3EC8-0758602E58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1179" y="1125328"/>
            <a:ext cx="6321137" cy="4214091"/>
          </a:xfrm>
          <a:prstGeom prst="rect">
            <a:avLst/>
          </a:prstGeom>
        </p:spPr>
      </p:pic>
      <p:sp>
        <p:nvSpPr>
          <p:cNvPr id="5" name="Title 30">
            <a:extLst>
              <a:ext uri="{FF2B5EF4-FFF2-40B4-BE49-F238E27FC236}">
                <a16:creationId xmlns:a16="http://schemas.microsoft.com/office/drawing/2014/main" id="{9371B23E-1B86-8D85-9F1E-9836FA97836D}"/>
              </a:ext>
            </a:extLst>
          </p:cNvPr>
          <p:cNvSpPr txBox="1">
            <a:spLocks/>
          </p:cNvSpPr>
          <p:nvPr/>
        </p:nvSpPr>
        <p:spPr>
          <a:xfrm>
            <a:off x="299684" y="828437"/>
            <a:ext cx="528162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/>
              <a:t>Recommendation</a:t>
            </a:r>
          </a:p>
        </p:txBody>
      </p:sp>
    </p:spTree>
    <p:extLst>
      <p:ext uri="{BB962C8B-B14F-4D97-AF65-F5344CB8AC3E}">
        <p14:creationId xmlns:p14="http://schemas.microsoft.com/office/powerpoint/2010/main" val="30116115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73BC3-79FA-173B-C82F-8972A2426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30">
            <a:extLst>
              <a:ext uri="{FF2B5EF4-FFF2-40B4-BE49-F238E27FC236}">
                <a16:creationId xmlns:a16="http://schemas.microsoft.com/office/drawing/2014/main" id="{A11F3F7E-F5EC-3BCB-A444-EC3BD97B8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2597" y="1215831"/>
            <a:ext cx="6386805" cy="1325563"/>
          </a:xfrm>
        </p:spPr>
        <p:txBody>
          <a:bodyPr anchor="ctr">
            <a:noAutofit/>
          </a:bodyPr>
          <a:lstStyle/>
          <a:p>
            <a:r>
              <a:rPr lang="en-US" sz="5400" dirty="0"/>
              <a:t>Case Study Questions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DAB129A1-8BCB-97E0-0FF3-20ED4EBAD32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376451" y="2902145"/>
            <a:ext cx="9439098" cy="3680900"/>
          </a:xfrm>
        </p:spPr>
        <p:txBody>
          <a:bodyPr>
            <a:no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What are the cost differences between OEM and refilled cartridges?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What factors other than cost should be considered?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Do manufacturers discourage refilled cartridges? How?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How does this choice affect the support team?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744A65-73D0-C311-B2F1-18CA69C27F44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smtClean="0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13</a:t>
            </a:fld>
            <a:endParaRPr lang="en-US" altLang="zh-C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62272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86E69-059F-71B8-CBCD-C23E29FC9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30">
            <a:extLst>
              <a:ext uri="{FF2B5EF4-FFF2-40B4-BE49-F238E27FC236}">
                <a16:creationId xmlns:a16="http://schemas.microsoft.com/office/drawing/2014/main" id="{9177BB5A-648C-3A00-FFAB-DDCC1D0CD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3404" y="549910"/>
            <a:ext cx="2544522" cy="1325563"/>
          </a:xfrm>
        </p:spPr>
        <p:txBody>
          <a:bodyPr anchor="ctr">
            <a:noAutofit/>
          </a:bodyPr>
          <a:lstStyle/>
          <a:p>
            <a:r>
              <a:rPr lang="en-US" sz="5400" dirty="0"/>
              <a:t>Sources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DD5218A-5717-CFC5-55F2-295F95A5E08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9239" y="1646555"/>
            <a:ext cx="11682426" cy="5211445"/>
          </a:xfrm>
        </p:spPr>
        <p:txBody>
          <a:bodyPr>
            <a:no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Cartridge World. “Printer Cartridge Refill vs. Replacement: Which Option Is Better for You?” Cartridge World, 17 June 2024, </a:t>
            </a:r>
            <a:r>
              <a:rPr lang="en-US" sz="2400" dirty="0">
                <a:hlinkClick r:id="rId3"/>
              </a:rPr>
              <a:t>https://cartridgeworldusa.com/blog/printer-cartridge-refill-vs-replacement-which-option-is-better-for-you</a:t>
            </a:r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Inkjets.com. “HP Cartridges for Printers: Can You Use Remanufactured Ink Cartridges in HP Printers?” Inkjets.com, 4 July 2024, </a:t>
            </a:r>
            <a:r>
              <a:rPr lang="en-US" sz="2400" dirty="0">
                <a:hlinkClick r:id="rId4"/>
              </a:rPr>
              <a:t>https://www.inkjets.com/blogs/printer-ink-guides/hp-cartridges-for-printers</a:t>
            </a:r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 err="1"/>
              <a:t>Knerl</a:t>
            </a:r>
            <a:r>
              <a:rPr lang="en-US" sz="2400" dirty="0"/>
              <a:t>, Linsey. “Are Off-Brand Ink Cartridges as Good as Name Brand? A Comprehensive Guide.” HP Tech Takes, 29 Aug. 2024, </a:t>
            </a:r>
            <a:r>
              <a:rPr lang="en-US" sz="2400" dirty="0">
                <a:hlinkClick r:id="rId5"/>
              </a:rPr>
              <a:t>www.hp.com/us-en/shop/tech-takes/are-off-brand-ink-cartridges-as-good-as-name-brand</a:t>
            </a:r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“5 Reasons You’ll Regret Using Refill Ink.” HP Tech Takes, 28 Feb. 2018, </a:t>
            </a:r>
            <a:r>
              <a:rPr lang="en-US" sz="2400" dirty="0">
                <a:hlinkClick r:id="rId6"/>
              </a:rPr>
              <a:t>www.hp.com/us-en/shop/tech-takes/5-reasons-youll-regret-using-refill-ink</a:t>
            </a:r>
            <a:r>
              <a:rPr lang="en-US" sz="2400" dirty="0"/>
              <a:t>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02CB0D-D226-58ED-7B68-F9E04164385F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smtClean="0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14</a:t>
            </a:fld>
            <a:endParaRPr lang="en-US" altLang="zh-C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68477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95754-644F-7238-7A68-401C2464F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30">
            <a:extLst>
              <a:ext uri="{FF2B5EF4-FFF2-40B4-BE49-F238E27FC236}">
                <a16:creationId xmlns:a16="http://schemas.microsoft.com/office/drawing/2014/main" id="{6158A6DA-CA49-D039-CD2F-EDC01C6E0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3404" y="549910"/>
            <a:ext cx="2544522" cy="1325563"/>
          </a:xfrm>
        </p:spPr>
        <p:txBody>
          <a:bodyPr anchor="ctr">
            <a:noAutofit/>
          </a:bodyPr>
          <a:lstStyle/>
          <a:p>
            <a:r>
              <a:rPr lang="en-US" sz="5400" dirty="0"/>
              <a:t>Sources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5AD72C1F-3DF6-0431-AF85-C07FDCCD8D3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9239" y="1646555"/>
            <a:ext cx="11682426" cy="5211445"/>
          </a:xfrm>
        </p:spPr>
        <p:txBody>
          <a:bodyPr>
            <a:no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Toal, J.“OEM vs. Remanufactured vs. Compatible Printer Cartridges: What’s the Difference?” Quill, 24 Feb. 2025, </a:t>
            </a:r>
            <a:r>
              <a:rPr lang="en-US" sz="2400" dirty="0">
                <a:hlinkClick r:id="rId3"/>
              </a:rPr>
              <a:t>www.quill.com/blog/oem-vs-remanufactured-vs-compatible-printer-cartridges-whats-the-difference/</a:t>
            </a:r>
            <a:r>
              <a:rPr lang="en-US" sz="24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“Toner Cartridges: Genuine OEM vs Compatible vs Remanufactured (Pros &amp; Cons).”TonerBuzz, 3 Apr. 2025, </a:t>
            </a:r>
            <a:r>
              <a:rPr lang="en-US" sz="2400" dirty="0">
                <a:hlinkClick r:id="rId4"/>
              </a:rPr>
              <a:t>www.tonerbuzz.com/blog/toner-cartridges-genuine-oem-vs-compatible-vs-remanufactured/</a:t>
            </a:r>
            <a:r>
              <a:rPr lang="en-US" sz="2400" dirty="0"/>
              <a:t>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EC3039-A2F7-3F59-AD13-3C61B9AAF56D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smtClean="0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15</a:t>
            </a:fld>
            <a:endParaRPr lang="en-US" altLang="zh-C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597820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​​">
  <a:themeElements>
    <a:clrScheme name="Custom 9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803"/>
      </a:accent2>
      <a:accent3>
        <a:srgbClr val="DCD3CC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0">
      <a:majorFont>
        <a:latin typeface="Posterama Text Black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Hexagon Light Presentation_win32_v5" id="{045A9B2F-7300-4673-816B-F1EB3C673B2C}" vid="{27F8BD87-6984-44CA-8D4F-354B20CB0C14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5515263-A3DE-4193-B6AA-5C449C94519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0AD9BE2-6B3D-4616-B044-300A8177DEA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74CFA8B0-C7B8-4655-A378-2962C04794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Hexagon presentation light</Template>
  <TotalTime>4877</TotalTime>
  <Words>947</Words>
  <Application>Microsoft Office PowerPoint</Application>
  <PresentationFormat>Widescreen</PresentationFormat>
  <Paragraphs>124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等线</vt:lpstr>
      <vt:lpstr>Abadi</vt:lpstr>
      <vt:lpstr>Arial</vt:lpstr>
      <vt:lpstr>Calibri</vt:lpstr>
      <vt:lpstr>Posterama Text Black</vt:lpstr>
      <vt:lpstr>Posterama Text SemiBold</vt:lpstr>
      <vt:lpstr>Wingdings</vt:lpstr>
      <vt:lpstr>Custom​​</vt:lpstr>
      <vt:lpstr>OEM Printer Cartridge  vs. Refilled Cartridges</vt:lpstr>
      <vt:lpstr>Why This Topic Matters</vt:lpstr>
      <vt:lpstr>What Is an OEM Cartridge?</vt:lpstr>
      <vt:lpstr>What Is a Refilled Cartridge?</vt:lpstr>
      <vt:lpstr>Cost Comparison (Example Printer)</vt:lpstr>
      <vt:lpstr>Factors Other Than Cost</vt:lpstr>
      <vt:lpstr>Pros and Cons of OEM Cartridges</vt:lpstr>
      <vt:lpstr>Pros and Cons of Refilled Cartridges</vt:lpstr>
      <vt:lpstr>Manufacturer Policies</vt:lpstr>
      <vt:lpstr>PowerPoint Presentation</vt:lpstr>
      <vt:lpstr>PowerPoint Presentation</vt:lpstr>
      <vt:lpstr>PowerPoint Presentation</vt:lpstr>
      <vt:lpstr>Case Study Questions</vt:lpstr>
      <vt:lpstr>Sources</vt:lpstr>
      <vt:lpstr>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Bianca Guimaraes Barros Leal Santos</dc:creator>
  <cp:lastModifiedBy>Bianca Guimaraes Barros Leal Santos</cp:lastModifiedBy>
  <cp:revision>23</cp:revision>
  <dcterms:created xsi:type="dcterms:W3CDTF">2026-02-03T00:29:10Z</dcterms:created>
  <dcterms:modified xsi:type="dcterms:W3CDTF">2026-02-12T03:54:27Z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